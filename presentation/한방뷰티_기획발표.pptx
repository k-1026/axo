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1" r:id="rId6"/>
    <p:sldId id="262" r:id="rId7"/>
    <p:sldId id="260"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오프닝" id="{02B3487B-3C66-45B1-DFE4-1240903F42A7}">
          <p14:sldIdLst>
            <p14:sldId id="256"/>
          </p14:sldIdLst>
        </p14:section>
        <p14:section name="기획 배경" id="{32BBA52D-4915-9D7F-2EAA-53B32D1D12AC}">
          <p14:sldIdLst>
            <p14:sldId id="257"/>
          </p14:sldIdLst>
        </p14:section>
        <p14:section name="인사이트" id="{DEAA91D9-86C6-2237-862B-2046D20236DE}">
          <p14:sldIdLst>
            <p14:sldId id="258"/>
          </p14:sldIdLst>
        </p14:section>
        <p14:section name="기획 의도" id="{D3D06420-6477-EB7B-1810-3D01516C9CF5}">
          <p14:sldIdLst>
            <p14:sldId id="259"/>
          </p14:sldIdLst>
        </p14:section>
        <p14:section name="목표 방향" id="{D8376056-B064-ABAD-B6D5-3E213609552B}">
          <p14:sldIdLst>
            <p14:sldId id="261"/>
            <p14:sldId id="262"/>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108" y="1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867533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기획은 한방과 뷰티의 만남입니다. 대구 약전골목에서 시작하는 한방뷰티 브랜드를 만들고, 이 브랜드의 기획부터 콘텐츠 제작까지 수행하는 AI 에이전트를 구축하려 합니다. 그런데 저희가 처음부터 한방뷰티를 떠올린 건 아니었습니다.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크리에이티브 트랙의 과제는 지역과 산업 특성을 반영한 AI 에이전트를 만드는 것입니다. 그래서 먼저 대구의 산업을 조사했고, 동구 신서동에 첨단의료복합단지, 즉 의료밸리가 지정되어 있다는 것을 알게 되었습니다. 저희는 요즘 떠오르는 뷰티 산업과 이 의료를 엮어보고 싶었습니다.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의료와 뷰티를 연결할 방법을 찾다가, 일본 뷰티 브랜드 시세이도가 1872년 도쿄 긴자의 서양식 약국에서 시작했다는 것을 알게 되었습니다. 그렇다면 대구의 '약국'은 어디일까? 그 답이 350년 넘게 한방 약재를 거래해 온 약전골목, 대구약령시였습니다. 그래서 저희는 한방과 뷰티를 엮기로 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저희의 기획 의도는 약전골목이라는 지역의 오래된 자산을 오늘의 뷰티 브랜드로 재해석하는 것입니다. 약전골목의 역사와 약재, 이야기를 브랜드 IP로 삼고, 과제의 세 트랙에 맞춰 Local에서는 브랜드 지식 파일, Lifestyle에서는 캠페인 템플릿과 키 비주얼, 숏폼 MVP, Modeling에서는 콘텐츠 기획·제작·발행 에이전트를 만듭니다.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기초 라인은 한약재마다 하나의 피부 고민을 맡도록 4가지로 나눴습니다. 윤기를 채우는 당귀는 수분 라인, 예민한 피부를 다독이는 쑥은 진정 라인, 번들거림을 정돈하는 어성초는 모공 라인, 영양을 채우는 인삼은 탄력 라인입니다. 소비자는 자기 피부 고민에 맞는 약재 라인을 고르기만 하면 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198854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브랜드를 만든 다음에는 약전골목으로 데려갑니다. 한약방과 약초상회 사이에 팝업스토어를 열어, 원료를 직접 보고 맡아보는 체험존, 피부 고민에 맞춘 라인 추천, 그리고 골목을 배경으로 한 기획전과 숏폼 촬영존을 운영합니다. 브랜드 홍보와 지역 상권 활성화를 함께 노리는 구성입니다.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129938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만들 에이전트의 방향은 두 가지입니다. 1단계는 한방뷰티 브랜드의 기초 마케팅·홍보 라인을 만드는 에이전트, 2단계는 그 브랜드를 약전골목과 연결해 지역 홍보와 팝업스토어를 기획하는 에이전트입니다. 이는 IP에서 콘텐츠, 캠페인, 기획전으로 이어지는 밸류체인과 맞닿아 있습니다. 아직 두 방향을 검토 중이며, 리서치를 거쳐 구체화하겠습니다.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229600" cy="274320"/>
          </a:xfrm>
          <a:prstGeom prst="rect">
            <a:avLst/>
          </a:prstGeom>
          <a:noFill/>
          <a:ln/>
        </p:spPr>
        <p:txBody>
          <a:bodyPr wrap="square" rtlCol="0"/>
          <a:lstStyle>
            <a:lvl1pPr marL="0" indent="0">
              <a:buNone/>
              <a:defRPr lang="en-US" sz="1100" b="1" kern="0" spc="200" dirty="0">
                <a:solidFill>
                  <a:schemeClr val="accent3"/>
                </a:solidFill>
              </a:defRPr>
            </a:lvl1pPr>
          </a:lstStyle>
          <a:p>
            <a:pPr marL="0" indent="0">
              <a:buNone/>
            </a:pPr>
            <a:endParaRPr lang="en-US" sz="1100" dirty="0"/>
          </a:p>
        </p:txBody>
      </p:sp>
      <p:sp>
        <p:nvSpPr>
          <p:cNvPr id="3" name="Text 0"/>
          <p:cNvSpPr>
            <a:spLocks noGrp="1"/>
          </p:cNvSpPr>
          <p:nvPr>
            <p:ph type="title" idx="101" hasCustomPrompt="1"/>
          </p:nvPr>
        </p:nvSpPr>
        <p:spPr>
          <a:xfrm>
            <a:off x="457200" y="548640"/>
            <a:ext cx="8229600" cy="59436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229600" cy="274320"/>
          </a:xfrm>
          <a:prstGeom prst="rect">
            <a:avLst/>
          </a:prstGeom>
          <a:noFill/>
          <a:ln/>
        </p:spPr>
        <p:txBody>
          <a:bodyPr wrap="square" rtlCol="0"/>
          <a:lstStyle>
            <a:lvl1pPr marL="0" indent="0">
              <a:buNone/>
              <a:defRPr lang="en-US" sz="1100" b="1" kern="0" spc="200" dirty="0">
                <a:solidFill>
                  <a:schemeClr val="accent1"/>
                </a:solidFill>
              </a:defRPr>
            </a:lvl1pPr>
          </a:lstStyle>
          <a:p>
            <a:pPr marL="0" indent="0">
              <a:buNone/>
            </a:pPr>
            <a:endParaRPr lang="en-US" sz="1100" dirty="0"/>
          </a:p>
        </p:txBody>
      </p:sp>
      <p:sp>
        <p:nvSpPr>
          <p:cNvPr id="3" name="Text 0"/>
          <p:cNvSpPr>
            <a:spLocks noGrp="1"/>
          </p:cNvSpPr>
          <p:nvPr>
            <p:ph type="title" idx="101" hasCustomPrompt="1"/>
          </p:nvPr>
        </p:nvSpPr>
        <p:spPr>
          <a:xfrm>
            <a:off x="457200" y="548640"/>
            <a:ext cx="8229600" cy="594360"/>
          </a:xfrm>
          <a:prstGeom prst="rect">
            <a:avLst/>
          </a:prstGeom>
          <a:noFill/>
          <a:ln/>
        </p:spPr>
        <p:txBody>
          <a:bodyPr wrap="square" rtlCol="0"/>
          <a:lstStyle>
            <a:lvl1pPr marL="0" indent="0" algn="l">
              <a:buNone/>
              <a:defRPr lang="en-US" sz="2600" b="1" dirty="0">
                <a:solidFill>
                  <a:schemeClr val="bg2"/>
                </a:solidFill>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1"/>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illustration" descr="한약재 서랍장, 인삼과 감초, 한방 앰플과 크림 일러스트"/>
          <p:cNvPicPr>
            <a:picLocks noChangeAspect="1"/>
          </p:cNvPicPr>
          <p:nvPr/>
        </p:nvPicPr>
        <p:blipFill>
          <a:blip r:embed="rId3"/>
          <a:stretch>
            <a:fillRect/>
          </a:stretch>
        </p:blipFill>
        <p:spPr>
          <a:xfrm>
            <a:off x="4572000" y="274320"/>
            <a:ext cx="4572000" cy="4572000"/>
          </a:xfrm>
          <a:prstGeom prst="rect">
            <a:avLst/>
          </a:prstGeom>
        </p:spPr>
      </p:pic>
      <p:sp>
        <p:nvSpPr>
          <p:cNvPr id="3" name="Text 0"/>
          <p:cNvSpPr txBox="1"/>
          <p:nvPr/>
        </p:nvSpPr>
        <p:spPr>
          <a:xfrm>
            <a:off x="548640" y="914400"/>
            <a:ext cx="4023360" cy="274320"/>
          </a:xfrm>
          <a:prstGeom prst="rect">
            <a:avLst/>
          </a:prstGeom>
          <a:noFill/>
          <a:ln/>
        </p:spPr>
        <p:txBody>
          <a:bodyPr wrap="square" lIns="0" tIns="0" rIns="0" bIns="0" rtlCol="0" anchor="ctr"/>
          <a:lstStyle/>
          <a:p>
            <a:pPr marL="0" indent="0">
              <a:buNone/>
            </a:pPr>
            <a:r>
              <a:rPr lang="en-US" sz="1100" b="1" kern="0" spc="300" dirty="0">
                <a:solidFill>
                  <a:schemeClr val="accent1"/>
                </a:solidFill>
              </a:rPr>
              <a:t>CREATIVE TRACK  ·  AI AGENT</a:t>
            </a:r>
            <a:endParaRPr lang="en-US" sz="1100" dirty="0"/>
          </a:p>
        </p:txBody>
      </p:sp>
      <p:sp>
        <p:nvSpPr>
          <p:cNvPr id="4" name="Cover title"/>
          <p:cNvSpPr txBox="1"/>
          <p:nvPr/>
        </p:nvSpPr>
        <p:spPr>
          <a:xfrm>
            <a:off x="548640" y="1280160"/>
            <a:ext cx="4023360" cy="914400"/>
          </a:xfrm>
          <a:prstGeom prst="rect">
            <a:avLst/>
          </a:prstGeom>
          <a:noFill/>
          <a:ln/>
        </p:spPr>
        <p:txBody>
          <a:bodyPr wrap="square" lIns="0" tIns="0" rIns="0" bIns="0" rtlCol="0" anchor="ctr"/>
          <a:lstStyle/>
          <a:p>
            <a:pPr marL="0" indent="0">
              <a:buNone/>
            </a:pPr>
            <a:r>
              <a:rPr lang="en-US" sz="5200" b="1" dirty="0">
                <a:solidFill>
                  <a:schemeClr val="bg2"/>
                </a:solidFill>
                <a:latin typeface="+mj-lt" pitchFamily="34" charset="0"/>
                <a:ea typeface="+mj-lt" pitchFamily="34" charset="-122"/>
                <a:cs typeface="+mj-lt" pitchFamily="34" charset="-120"/>
              </a:rPr>
              <a:t>한방</a:t>
            </a:r>
            <a:r>
              <a:rPr lang="en-US" sz="5200" b="1" dirty="0">
                <a:solidFill>
                  <a:schemeClr val="accent1"/>
                </a:solidFill>
                <a:latin typeface="+mj-lt" pitchFamily="34" charset="0"/>
                <a:ea typeface="+mj-lt" pitchFamily="34" charset="-122"/>
                <a:cs typeface="+mj-lt" pitchFamily="34" charset="-120"/>
              </a:rPr>
              <a:t> × </a:t>
            </a:r>
            <a:r>
              <a:rPr lang="en-US" sz="5200" b="1" dirty="0">
                <a:solidFill>
                  <a:schemeClr val="bg2"/>
                </a:solidFill>
                <a:latin typeface="+mj-lt" pitchFamily="34" charset="0"/>
                <a:ea typeface="+mj-lt" pitchFamily="34" charset="-122"/>
                <a:cs typeface="+mj-lt" pitchFamily="34" charset="-120"/>
              </a:rPr>
              <a:t>뷰티</a:t>
            </a:r>
            <a:endParaRPr lang="en-US" sz="5200" dirty="0"/>
          </a:p>
        </p:txBody>
      </p:sp>
      <p:sp>
        <p:nvSpPr>
          <p:cNvPr id="5" name="Text 2"/>
          <p:cNvSpPr txBox="1"/>
          <p:nvPr/>
        </p:nvSpPr>
        <p:spPr>
          <a:xfrm>
            <a:off x="548640" y="2240280"/>
            <a:ext cx="4023360" cy="411480"/>
          </a:xfrm>
          <a:prstGeom prst="rect">
            <a:avLst/>
          </a:prstGeom>
          <a:noFill/>
          <a:ln/>
        </p:spPr>
        <p:txBody>
          <a:bodyPr wrap="square" lIns="0" tIns="0" rIns="0" bIns="0" rtlCol="0" anchor="ctr"/>
          <a:lstStyle/>
          <a:p>
            <a:pPr marL="0" indent="0">
              <a:buNone/>
            </a:pPr>
            <a:r>
              <a:rPr lang="en-US" sz="1800" dirty="0">
                <a:solidFill>
                  <a:schemeClr val="accent4"/>
                </a:solidFill>
              </a:rPr>
              <a:t>대구 약전골목에서 시작하는 뷰티 브랜드</a:t>
            </a:r>
            <a:endParaRPr lang="en-US" sz="1800" dirty="0"/>
          </a:p>
        </p:txBody>
      </p:sp>
      <p:sp>
        <p:nvSpPr>
          <p:cNvPr id="6" name="Chip 약전골목"/>
          <p:cNvSpPr/>
          <p:nvPr/>
        </p:nvSpPr>
        <p:spPr>
          <a:xfrm>
            <a:off x="548640" y="2971800"/>
            <a:ext cx="1097280" cy="384048"/>
          </a:xfrm>
          <a:prstGeom prst="roundRect">
            <a:avLst>
              <a:gd name="adj" fmla="val 47619"/>
            </a:avLst>
          </a:prstGeom>
          <a:solidFill>
            <a:schemeClr val="tx1"/>
          </a:solidFill>
          <a:ln w="15875">
            <a:solidFill>
              <a:schemeClr val="accent1"/>
            </a:solidFill>
          </a:ln>
        </p:spPr>
        <p:txBody>
          <a:bodyPr wrap="square" lIns="0" tIns="0" rIns="0" bIns="0" rtlCol="0" anchor="ctr"/>
          <a:lstStyle/>
          <a:p>
            <a:pPr marL="0" indent="0" algn="ctr">
              <a:buNone/>
            </a:pPr>
            <a:r>
              <a:rPr lang="en-US" sz="1300" b="1" dirty="0">
                <a:solidFill>
                  <a:schemeClr val="accent1"/>
                </a:solidFill>
              </a:rPr>
              <a:t>약전골목</a:t>
            </a:r>
            <a:endParaRPr lang="en-US" sz="1300" dirty="0"/>
          </a:p>
        </p:txBody>
      </p:sp>
      <p:sp>
        <p:nvSpPr>
          <p:cNvPr id="7" name="Chip 한방"/>
          <p:cNvSpPr/>
          <p:nvPr/>
        </p:nvSpPr>
        <p:spPr>
          <a:xfrm>
            <a:off x="1783080" y="2971800"/>
            <a:ext cx="1097280" cy="384048"/>
          </a:xfrm>
          <a:prstGeom prst="roundRect">
            <a:avLst>
              <a:gd name="adj" fmla="val 47619"/>
            </a:avLst>
          </a:prstGeom>
          <a:solidFill>
            <a:schemeClr val="tx1"/>
          </a:solidFill>
          <a:ln w="15875">
            <a:solidFill>
              <a:schemeClr val="accent1"/>
            </a:solidFill>
          </a:ln>
        </p:spPr>
        <p:txBody>
          <a:bodyPr wrap="square" lIns="0" tIns="0" rIns="0" bIns="0" rtlCol="0" anchor="ctr"/>
          <a:lstStyle/>
          <a:p>
            <a:pPr marL="0" indent="0" algn="ctr">
              <a:buNone/>
            </a:pPr>
            <a:r>
              <a:rPr lang="en-US" sz="1300" b="1" dirty="0">
                <a:solidFill>
                  <a:schemeClr val="accent1"/>
                </a:solidFill>
              </a:rPr>
              <a:t>한방</a:t>
            </a:r>
            <a:endParaRPr lang="en-US" sz="1300" dirty="0"/>
          </a:p>
        </p:txBody>
      </p:sp>
      <p:sp>
        <p:nvSpPr>
          <p:cNvPr id="8" name="Chip 뷰티"/>
          <p:cNvSpPr/>
          <p:nvPr/>
        </p:nvSpPr>
        <p:spPr>
          <a:xfrm>
            <a:off x="3017520" y="2971800"/>
            <a:ext cx="1097280" cy="384048"/>
          </a:xfrm>
          <a:prstGeom prst="roundRect">
            <a:avLst>
              <a:gd name="adj" fmla="val 47619"/>
            </a:avLst>
          </a:prstGeom>
          <a:solidFill>
            <a:schemeClr val="tx1"/>
          </a:solidFill>
          <a:ln w="15875">
            <a:solidFill>
              <a:schemeClr val="accent1"/>
            </a:solidFill>
          </a:ln>
        </p:spPr>
        <p:txBody>
          <a:bodyPr wrap="square" lIns="0" tIns="0" rIns="0" bIns="0" rtlCol="0" anchor="ctr"/>
          <a:lstStyle/>
          <a:p>
            <a:pPr marL="0" indent="0" algn="ctr">
              <a:buNone/>
            </a:pPr>
            <a:r>
              <a:rPr lang="en-US" sz="1300" b="1" dirty="0">
                <a:solidFill>
                  <a:schemeClr val="accent1"/>
                </a:solidFill>
              </a:rPr>
              <a:t>뷰티</a:t>
            </a:r>
            <a:endParaRPr lang="en-US" sz="1300" dirty="0"/>
          </a:p>
        </p:txBody>
      </p:sp>
      <p:sp>
        <p:nvSpPr>
          <p:cNvPr id="9" name="Text 6"/>
          <p:cNvSpPr txBox="1"/>
          <p:nvPr/>
        </p:nvSpPr>
        <p:spPr>
          <a:xfrm>
            <a:off x="548640" y="4114800"/>
            <a:ext cx="4023360" cy="320040"/>
          </a:xfrm>
          <a:prstGeom prst="rect">
            <a:avLst/>
          </a:prstGeom>
          <a:noFill/>
          <a:ln/>
        </p:spPr>
        <p:txBody>
          <a:bodyPr wrap="square" lIns="0" tIns="0" rIns="0" bIns="0" rtlCol="0" anchor="ctr"/>
          <a:lstStyle/>
          <a:p>
            <a:pPr marL="0" indent="0">
              <a:buNone/>
            </a:pPr>
            <a:r>
              <a:rPr lang="en-US" sz="1200" i="1" dirty="0">
                <a:solidFill>
                  <a:schemeClr val="accent4"/>
                </a:solidFill>
              </a:rPr>
              <a:t>350년 약령시의 지혜를 오늘의 뷰티로</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229600" cy="274320"/>
          </a:xfrm>
          <a:prstGeom prst="rect">
            <a:avLst/>
          </a:prstGeom>
          <a:noFill/>
          <a:ln/>
        </p:spPr>
        <p:txBody>
          <a:bodyPr wrap="square" lIns="0" tIns="0" rIns="0" bIns="0" rtlCol="0"/>
          <a:lstStyle/>
          <a:p>
            <a:pPr marL="0" indent="0">
              <a:buNone/>
            </a:pPr>
            <a:r>
              <a:rPr lang="en-US" sz="1100" b="1" kern="0" spc="200" dirty="0">
                <a:solidFill>
                  <a:schemeClr val="accent3"/>
                </a:solidFill>
              </a:rPr>
              <a:t>01  기획 배경</a:t>
            </a:r>
            <a:endParaRPr lang="en-US" sz="1100" dirty="0"/>
          </a:p>
        </p:txBody>
      </p:sp>
      <p:sp>
        <p:nvSpPr>
          <p:cNvPr id="3" name="Text 0"/>
          <p:cNvSpPr>
            <a:spLocks noGrp="1"/>
          </p:cNvSpPr>
          <p:nvPr>
            <p:ph type="title" idx="101" hasCustomPrompt="1"/>
          </p:nvPr>
        </p:nvSpPr>
        <p:spPr>
          <a:xfrm>
            <a:off x="457200" y="548640"/>
            <a:ext cx="8229600" cy="594360"/>
          </a:xfrm>
          <a:prstGeom prst="rect">
            <a:avLst/>
          </a:prstGeom>
          <a:noFill/>
          <a:ln/>
        </p:spPr>
        <p:txBody>
          <a:bodyPr wrap="square" lIns="0" tIns="0" rIns="0" bIns="0" rtlCol="0" anchor="t"/>
          <a:lstStyle/>
          <a:p>
            <a:pPr marL="0" indent="0" algn="l">
              <a:buNone/>
            </a:pPr>
            <a:r>
              <a:rPr lang="en-US" sz="2600" b="1" dirty="0">
                <a:solidFill>
                  <a:schemeClr val="tx1"/>
                </a:solidFill>
              </a:rPr>
              <a:t>대구는 이미 '의료' 도시였다</a:t>
            </a:r>
            <a:endParaRPr lang="en-US" sz="2600" dirty="0"/>
          </a:p>
        </p:txBody>
      </p:sp>
      <p:sp>
        <p:nvSpPr>
          <p:cNvPr id="4" name="Step dot 1"/>
          <p:cNvSpPr/>
          <p:nvPr/>
        </p:nvSpPr>
        <p:spPr>
          <a:xfrm>
            <a:off x="457200" y="1371600"/>
            <a:ext cx="548640" cy="548640"/>
          </a:xfrm>
          <a:prstGeom prst="ellipse">
            <a:avLst/>
          </a:prstGeom>
          <a:solidFill>
            <a:schemeClr val="tx2"/>
          </a:solidFill>
          <a:ln/>
        </p:spPr>
      </p:sp>
      <p:pic>
        <p:nvPicPr>
          <p:cNvPr id="5" name="Step icon 1" descr="preencoded.png"/>
          <p:cNvPicPr>
            <a:picLocks noChangeAspect="1"/>
          </p:cNvPicPr>
          <p:nvPr/>
        </p:nvPicPr>
        <p:blipFill>
          <a:blip r:embed="rId3"/>
          <a:stretch>
            <a:fillRect/>
          </a:stretch>
        </p:blipFill>
        <p:spPr>
          <a:xfrm>
            <a:off x="594360" y="1508760"/>
            <a:ext cx="274320" cy="274320"/>
          </a:xfrm>
          <a:prstGeom prst="rect">
            <a:avLst/>
          </a:prstGeom>
        </p:spPr>
      </p:pic>
      <p:sp>
        <p:nvSpPr>
          <p:cNvPr id="6" name="Text 3"/>
          <p:cNvSpPr txBox="1"/>
          <p:nvPr/>
        </p:nvSpPr>
        <p:spPr>
          <a:xfrm>
            <a:off x="1188720" y="1353312"/>
            <a:ext cx="3291840" cy="274320"/>
          </a:xfrm>
          <a:prstGeom prst="rect">
            <a:avLst/>
          </a:prstGeom>
          <a:noFill/>
          <a:ln/>
        </p:spPr>
        <p:txBody>
          <a:bodyPr wrap="square" lIns="0" tIns="0" rIns="0" bIns="0" rtlCol="0" anchor="ctr"/>
          <a:lstStyle/>
          <a:p>
            <a:pPr marL="0" indent="0">
              <a:buNone/>
            </a:pPr>
            <a:r>
              <a:rPr lang="en-US" sz="1500" b="1" dirty="0">
                <a:solidFill>
                  <a:schemeClr val="tx1"/>
                </a:solidFill>
              </a:rPr>
              <a:t>과제</a:t>
            </a:r>
            <a:endParaRPr lang="en-US" sz="1500" dirty="0"/>
          </a:p>
        </p:txBody>
      </p:sp>
      <p:sp>
        <p:nvSpPr>
          <p:cNvPr id="7" name="Text 4"/>
          <p:cNvSpPr txBox="1"/>
          <p:nvPr/>
        </p:nvSpPr>
        <p:spPr>
          <a:xfrm>
            <a:off x="1188720" y="1627632"/>
            <a:ext cx="3291840" cy="502920"/>
          </a:xfrm>
          <a:prstGeom prst="rect">
            <a:avLst/>
          </a:prstGeom>
          <a:noFill/>
          <a:ln/>
        </p:spPr>
        <p:txBody>
          <a:bodyPr wrap="square" lIns="0" tIns="0" rIns="0" bIns="0" rtlCol="0" anchor="t"/>
          <a:lstStyle/>
          <a:p>
            <a:pPr marL="0" indent="0">
              <a:buNone/>
            </a:pPr>
            <a:r>
              <a:rPr lang="en-US" sz="1200" dirty="0">
                <a:solidFill>
                  <a:schemeClr val="tx2"/>
                </a:solidFill>
              </a:rPr>
              <a:t>지역·산업 특성을 반영한 브랜드 전략~콘텐츠 제작 AI 에이전트 구축</a:t>
            </a:r>
            <a:endParaRPr lang="en-US" sz="1200" dirty="0"/>
          </a:p>
        </p:txBody>
      </p:sp>
      <p:sp>
        <p:nvSpPr>
          <p:cNvPr id="8" name="Step dot 2"/>
          <p:cNvSpPr/>
          <p:nvPr/>
        </p:nvSpPr>
        <p:spPr>
          <a:xfrm>
            <a:off x="457200" y="2286000"/>
            <a:ext cx="548640" cy="548640"/>
          </a:xfrm>
          <a:prstGeom prst="ellipse">
            <a:avLst/>
          </a:prstGeom>
          <a:solidFill>
            <a:schemeClr val="tx2"/>
          </a:solidFill>
          <a:ln/>
        </p:spPr>
      </p:sp>
      <p:pic>
        <p:nvPicPr>
          <p:cNvPr id="9" name="Step icon 2" descr="preencoded.png"/>
          <p:cNvPicPr>
            <a:picLocks noChangeAspect="1"/>
          </p:cNvPicPr>
          <p:nvPr/>
        </p:nvPicPr>
        <p:blipFill>
          <a:blip r:embed="rId4"/>
          <a:stretch>
            <a:fillRect/>
          </a:stretch>
        </p:blipFill>
        <p:spPr>
          <a:xfrm>
            <a:off x="594360" y="2423160"/>
            <a:ext cx="274320" cy="274320"/>
          </a:xfrm>
          <a:prstGeom prst="rect">
            <a:avLst/>
          </a:prstGeom>
        </p:spPr>
      </p:pic>
      <p:sp>
        <p:nvSpPr>
          <p:cNvPr id="10" name="Text 6"/>
          <p:cNvSpPr txBox="1"/>
          <p:nvPr/>
        </p:nvSpPr>
        <p:spPr>
          <a:xfrm>
            <a:off x="1188720" y="2267712"/>
            <a:ext cx="3291840" cy="274320"/>
          </a:xfrm>
          <a:prstGeom prst="rect">
            <a:avLst/>
          </a:prstGeom>
          <a:noFill/>
          <a:ln/>
        </p:spPr>
        <p:txBody>
          <a:bodyPr wrap="square" lIns="0" tIns="0" rIns="0" bIns="0" rtlCol="0" anchor="ctr"/>
          <a:lstStyle/>
          <a:p>
            <a:pPr marL="0" indent="0">
              <a:buNone/>
            </a:pPr>
            <a:r>
              <a:rPr lang="en-US" sz="1500" b="1" dirty="0">
                <a:solidFill>
                  <a:schemeClr val="tx1"/>
                </a:solidFill>
              </a:rPr>
              <a:t>리서치</a:t>
            </a:r>
            <a:endParaRPr lang="en-US" sz="1500" dirty="0"/>
          </a:p>
        </p:txBody>
      </p:sp>
      <p:sp>
        <p:nvSpPr>
          <p:cNvPr id="11" name="Text 7"/>
          <p:cNvSpPr txBox="1"/>
          <p:nvPr/>
        </p:nvSpPr>
        <p:spPr>
          <a:xfrm>
            <a:off x="1188720" y="2542032"/>
            <a:ext cx="3291840" cy="502920"/>
          </a:xfrm>
          <a:prstGeom prst="rect">
            <a:avLst/>
          </a:prstGeom>
          <a:noFill/>
          <a:ln/>
        </p:spPr>
        <p:txBody>
          <a:bodyPr wrap="square" lIns="0" tIns="0" rIns="0" bIns="0" rtlCol="0" anchor="t"/>
          <a:lstStyle/>
          <a:p>
            <a:pPr marL="0" indent="0">
              <a:buNone/>
            </a:pPr>
            <a:r>
              <a:rPr lang="en-US" sz="1200" dirty="0">
                <a:solidFill>
                  <a:schemeClr val="tx2"/>
                </a:solidFill>
              </a:rPr>
              <a:t>대구 산업 조사 중 첨단의료복합단지(동구 신서동) 지정 사실을 발견</a:t>
            </a:r>
            <a:endParaRPr lang="en-US" sz="1200" dirty="0"/>
          </a:p>
        </p:txBody>
      </p:sp>
      <p:sp>
        <p:nvSpPr>
          <p:cNvPr id="12" name="Step dot 3"/>
          <p:cNvSpPr/>
          <p:nvPr/>
        </p:nvSpPr>
        <p:spPr>
          <a:xfrm>
            <a:off x="457200" y="3200400"/>
            <a:ext cx="548640" cy="548640"/>
          </a:xfrm>
          <a:prstGeom prst="ellipse">
            <a:avLst/>
          </a:prstGeom>
          <a:solidFill>
            <a:schemeClr val="accent1"/>
          </a:solidFill>
          <a:ln/>
        </p:spPr>
      </p:sp>
      <p:pic>
        <p:nvPicPr>
          <p:cNvPr id="13" name="Step icon 3" descr="preencoded.png"/>
          <p:cNvPicPr>
            <a:picLocks noChangeAspect="1"/>
          </p:cNvPicPr>
          <p:nvPr/>
        </p:nvPicPr>
        <p:blipFill>
          <a:blip r:embed="rId5"/>
          <a:stretch>
            <a:fillRect/>
          </a:stretch>
        </p:blipFill>
        <p:spPr>
          <a:xfrm>
            <a:off x="594360" y="3337560"/>
            <a:ext cx="274320" cy="274320"/>
          </a:xfrm>
          <a:prstGeom prst="rect">
            <a:avLst/>
          </a:prstGeom>
        </p:spPr>
      </p:pic>
      <p:sp>
        <p:nvSpPr>
          <p:cNvPr id="14" name="Text 9"/>
          <p:cNvSpPr txBox="1"/>
          <p:nvPr/>
        </p:nvSpPr>
        <p:spPr>
          <a:xfrm>
            <a:off x="1188720" y="3182112"/>
            <a:ext cx="3291840" cy="274320"/>
          </a:xfrm>
          <a:prstGeom prst="rect">
            <a:avLst/>
          </a:prstGeom>
          <a:noFill/>
          <a:ln/>
        </p:spPr>
        <p:txBody>
          <a:bodyPr wrap="square" lIns="0" tIns="0" rIns="0" bIns="0" rtlCol="0" anchor="ctr"/>
          <a:lstStyle/>
          <a:p>
            <a:pPr marL="0" indent="0">
              <a:buNone/>
            </a:pPr>
            <a:r>
              <a:rPr lang="en-US" sz="1500" b="1" dirty="0">
                <a:solidFill>
                  <a:schemeClr val="tx1"/>
                </a:solidFill>
              </a:rPr>
              <a:t>고민</a:t>
            </a:r>
            <a:endParaRPr lang="en-US" sz="1500" dirty="0"/>
          </a:p>
        </p:txBody>
      </p:sp>
      <p:sp>
        <p:nvSpPr>
          <p:cNvPr id="15" name="Text 10"/>
          <p:cNvSpPr txBox="1"/>
          <p:nvPr/>
        </p:nvSpPr>
        <p:spPr>
          <a:xfrm>
            <a:off x="1188720" y="3456432"/>
            <a:ext cx="3291840" cy="502920"/>
          </a:xfrm>
          <a:prstGeom prst="rect">
            <a:avLst/>
          </a:prstGeom>
          <a:noFill/>
          <a:ln/>
        </p:spPr>
        <p:txBody>
          <a:bodyPr wrap="square" lIns="0" tIns="0" rIns="0" bIns="0" rtlCol="0" anchor="t"/>
          <a:lstStyle/>
          <a:p>
            <a:pPr marL="0" indent="0">
              <a:buNone/>
            </a:pPr>
            <a:r>
              <a:rPr lang="en-US" sz="1200" dirty="0">
                <a:solidFill>
                  <a:schemeClr val="tx2"/>
                </a:solidFill>
              </a:rPr>
              <a:t>떠오르는 뷰티 산업과 '의료'를 어떻게 엮을 수 있을까?</a:t>
            </a:r>
            <a:endParaRPr lang="en-US" sz="1200" dirty="0"/>
          </a:p>
        </p:txBody>
      </p:sp>
      <p:sp>
        <p:nvSpPr>
          <p:cNvPr id="16" name="Question callout"/>
          <p:cNvSpPr/>
          <p:nvPr/>
        </p:nvSpPr>
        <p:spPr>
          <a:xfrm>
            <a:off x="457200" y="4160520"/>
            <a:ext cx="4023360" cy="502920"/>
          </a:xfrm>
          <a:prstGeom prst="roundRect">
            <a:avLst>
              <a:gd name="adj" fmla="val 21818"/>
            </a:avLst>
          </a:prstGeom>
          <a:solidFill>
            <a:schemeClr val="tx1"/>
          </a:solidFill>
          <a:ln/>
        </p:spPr>
        <p:txBody>
          <a:bodyPr wrap="square" lIns="0" tIns="0" rIns="0" bIns="0" rtlCol="0" anchor="ctr"/>
          <a:lstStyle/>
          <a:p>
            <a:pPr marL="0" indent="0" algn="ctr">
              <a:buNone/>
            </a:pPr>
            <a:r>
              <a:rPr lang="en-US" sz="1700" b="1" dirty="0">
                <a:solidFill>
                  <a:schemeClr val="bg2"/>
                </a:solidFill>
              </a:rPr>
              <a:t>의료 + 뷰티 = </a:t>
            </a:r>
            <a:r>
              <a:rPr lang="en-US" sz="1700" b="1" dirty="0">
                <a:solidFill>
                  <a:schemeClr val="accent1"/>
                </a:solidFill>
              </a:rPr>
              <a:t>?</a:t>
            </a:r>
            <a:endParaRPr lang="en-US" sz="1700" dirty="0"/>
          </a:p>
        </p:txBody>
      </p:sp>
      <p:pic>
        <p:nvPicPr>
          <p:cNvPr id="17" name="Daegu map" descr="대구 지도: 중구 약전골목과 동구 신서동 첨단의료복합단지 위치"/>
          <p:cNvPicPr>
            <a:picLocks noChangeAspect="1"/>
          </p:cNvPicPr>
          <p:nvPr/>
        </p:nvPicPr>
        <p:blipFill>
          <a:blip r:embed="rId6"/>
          <a:stretch>
            <a:fillRect/>
          </a:stretch>
        </p:blipFill>
        <p:spPr>
          <a:xfrm>
            <a:off x="4754880" y="1234440"/>
            <a:ext cx="4023360" cy="3401568"/>
          </a:xfrm>
          <a:prstGeom prst="rect">
            <a:avLst/>
          </a:prstGeom>
        </p:spPr>
      </p:pic>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229600" cy="274320"/>
          </a:xfrm>
          <a:prstGeom prst="rect">
            <a:avLst/>
          </a:prstGeom>
          <a:noFill/>
          <a:ln/>
        </p:spPr>
        <p:txBody>
          <a:bodyPr wrap="square" lIns="0" tIns="0" rIns="0" bIns="0" rtlCol="0"/>
          <a:lstStyle/>
          <a:p>
            <a:pPr marL="0" indent="0">
              <a:buNone/>
            </a:pPr>
            <a:r>
              <a:rPr lang="en-US" sz="1100" b="1" kern="0" spc="200" dirty="0">
                <a:solidFill>
                  <a:schemeClr val="accent3"/>
                </a:solidFill>
              </a:rPr>
              <a:t>02  인사이트</a:t>
            </a:r>
            <a:endParaRPr lang="en-US" sz="1100" dirty="0"/>
          </a:p>
        </p:txBody>
      </p:sp>
      <p:sp>
        <p:nvSpPr>
          <p:cNvPr id="3" name="Text 0"/>
          <p:cNvSpPr>
            <a:spLocks noGrp="1"/>
          </p:cNvSpPr>
          <p:nvPr>
            <p:ph type="title" idx="101" hasCustomPrompt="1"/>
          </p:nvPr>
        </p:nvSpPr>
        <p:spPr>
          <a:xfrm>
            <a:off x="457200" y="548640"/>
            <a:ext cx="8229600" cy="594360"/>
          </a:xfrm>
          <a:prstGeom prst="rect">
            <a:avLst/>
          </a:prstGeom>
          <a:noFill/>
          <a:ln/>
        </p:spPr>
        <p:txBody>
          <a:bodyPr wrap="square" lIns="0" tIns="0" rIns="0" bIns="0" rtlCol="0" anchor="t"/>
          <a:lstStyle/>
          <a:p>
            <a:pPr marL="0" indent="0" algn="l">
              <a:buNone/>
            </a:pPr>
            <a:r>
              <a:rPr lang="en-US" sz="2600" b="1" dirty="0">
                <a:solidFill>
                  <a:schemeClr val="tx1"/>
                </a:solidFill>
              </a:rPr>
              <a:t>뷰티 브랜드는 '약국'에서 시작됐다</a:t>
            </a:r>
            <a:endParaRPr lang="en-US" sz="2600" dirty="0"/>
          </a:p>
        </p:txBody>
      </p:sp>
      <p:sp>
        <p:nvSpPr>
          <p:cNvPr id="4" name="Text 2"/>
          <p:cNvSpPr txBox="1"/>
          <p:nvPr/>
        </p:nvSpPr>
        <p:spPr>
          <a:xfrm>
            <a:off x="457200" y="1691640"/>
            <a:ext cx="868680" cy="365760"/>
          </a:xfrm>
          <a:prstGeom prst="rect">
            <a:avLst/>
          </a:prstGeom>
          <a:noFill/>
          <a:ln/>
        </p:spPr>
        <p:txBody>
          <a:bodyPr wrap="square" lIns="0" tIns="0" rIns="0" bIns="0" rtlCol="0" anchor="ctr"/>
          <a:lstStyle/>
          <a:p>
            <a:pPr marL="0" indent="0">
              <a:buNone/>
            </a:pPr>
            <a:r>
              <a:rPr lang="en-US" sz="1400" b="1" dirty="0">
                <a:solidFill>
                  <a:schemeClr val="tx2"/>
                </a:solidFill>
              </a:rPr>
              <a:t>시세이도</a:t>
            </a:r>
            <a:endParaRPr lang="en-US" sz="1400" dirty="0"/>
          </a:p>
        </p:txBody>
      </p:sp>
      <p:sp>
        <p:nvSpPr>
          <p:cNvPr id="5" name="From card 시세이도"/>
          <p:cNvSpPr/>
          <p:nvPr/>
        </p:nvSpPr>
        <p:spPr>
          <a:xfrm>
            <a:off x="1371600" y="1417320"/>
            <a:ext cx="1828800" cy="914400"/>
          </a:xfrm>
          <a:prstGeom prst="roundRect">
            <a:avLst>
              <a:gd name="adj" fmla="val 10000"/>
            </a:avLst>
          </a:prstGeom>
          <a:solidFill>
            <a:schemeClr val="bg1"/>
          </a:solidFill>
          <a:ln w="12700">
            <a:solidFill>
              <a:schemeClr val="accent4"/>
            </a:solidFill>
            <a:prstDash val="solid"/>
          </a:ln>
          <a:effectLst>
            <a:outerShdw blurRad="76200" dist="25400" dir="5400000" algn="bl" rotWithShape="0">
              <a:srgbClr val="000000">
                <a:alpha val="12000"/>
              </a:srgbClr>
            </a:outerShdw>
          </a:effectLst>
        </p:spPr>
      </p:sp>
      <p:sp>
        <p:nvSpPr>
          <p:cNvPr id="6" name="Text 4"/>
          <p:cNvSpPr txBox="1"/>
          <p:nvPr/>
        </p:nvSpPr>
        <p:spPr>
          <a:xfrm>
            <a:off x="1508760" y="1490472"/>
            <a:ext cx="1554480" cy="274320"/>
          </a:xfrm>
          <a:prstGeom prst="rect">
            <a:avLst/>
          </a:prstGeom>
          <a:noFill/>
          <a:ln/>
        </p:spPr>
        <p:txBody>
          <a:bodyPr wrap="square" lIns="0" tIns="0" rIns="0" bIns="0" rtlCol="0" anchor="ctr"/>
          <a:lstStyle/>
          <a:p>
            <a:pPr marL="0" indent="0">
              <a:buNone/>
            </a:pPr>
            <a:r>
              <a:rPr lang="en-US" sz="1300" b="1" dirty="0">
                <a:solidFill>
                  <a:schemeClr val="accent1"/>
                </a:solidFill>
              </a:rPr>
              <a:t>1872</a:t>
            </a:r>
            <a:endParaRPr lang="en-US" sz="1300" dirty="0"/>
          </a:p>
        </p:txBody>
      </p:sp>
      <p:sp>
        <p:nvSpPr>
          <p:cNvPr id="7" name="Text 5"/>
          <p:cNvSpPr txBox="1"/>
          <p:nvPr/>
        </p:nvSpPr>
        <p:spPr>
          <a:xfrm>
            <a:off x="1508760" y="1764792"/>
            <a:ext cx="1554480" cy="502920"/>
          </a:xfrm>
          <a:prstGeom prst="rect">
            <a:avLst/>
          </a:prstGeom>
          <a:noFill/>
          <a:ln/>
        </p:spPr>
        <p:txBody>
          <a:bodyPr wrap="square" lIns="0" tIns="0" rIns="0" bIns="0" rtlCol="0" anchor="t"/>
          <a:lstStyle/>
          <a:p>
            <a:pPr marL="0" indent="0">
              <a:buNone/>
            </a:pPr>
            <a:r>
              <a:rPr lang="en-US" sz="1200" dirty="0">
                <a:solidFill>
                  <a:schemeClr val="tx1"/>
                </a:solidFill>
              </a:rPr>
              <a:t>도쿄 긴자의</a:t>
            </a:r>
            <a:endParaRPr lang="en-US" sz="1200" dirty="0"/>
          </a:p>
          <a:p>
            <a:pPr marL="0" indent="0">
              <a:buNone/>
            </a:pPr>
            <a:r>
              <a:rPr lang="en-US" sz="1200" dirty="0">
                <a:solidFill>
                  <a:schemeClr val="tx1"/>
                </a:solidFill>
              </a:rPr>
              <a:t>서양식 약국</a:t>
            </a:r>
            <a:endParaRPr lang="en-US" sz="1200" dirty="0"/>
          </a:p>
        </p:txBody>
      </p:sp>
      <p:sp>
        <p:nvSpPr>
          <p:cNvPr id="8" name="Arrow 시세이도"/>
          <p:cNvSpPr/>
          <p:nvPr/>
        </p:nvSpPr>
        <p:spPr>
          <a:xfrm>
            <a:off x="3337560" y="1737360"/>
            <a:ext cx="548640" cy="274320"/>
          </a:xfrm>
          <a:prstGeom prst="rightArrow">
            <a:avLst/>
          </a:prstGeom>
          <a:solidFill>
            <a:schemeClr val="accent4"/>
          </a:solidFill>
          <a:ln/>
        </p:spPr>
      </p:sp>
      <p:sp>
        <p:nvSpPr>
          <p:cNvPr id="9" name="To card 시세이도"/>
          <p:cNvSpPr/>
          <p:nvPr/>
        </p:nvSpPr>
        <p:spPr>
          <a:xfrm>
            <a:off x="4023360" y="1417320"/>
            <a:ext cx="1828800" cy="914400"/>
          </a:xfrm>
          <a:prstGeom prst="roundRect">
            <a:avLst>
              <a:gd name="adj" fmla="val 10000"/>
            </a:avLst>
          </a:prstGeom>
          <a:solidFill>
            <a:schemeClr val="tx2"/>
          </a:solidFill>
          <a:ln/>
        </p:spPr>
        <p:txBody>
          <a:bodyPr wrap="square" lIns="635" tIns="635" rIns="635" bIns="635" rtlCol="0" anchor="ctr"/>
          <a:lstStyle/>
          <a:p>
            <a:pPr marL="0" indent="0" algn="ctr">
              <a:buNone/>
            </a:pPr>
            <a:r>
              <a:rPr lang="en-US" sz="1400" b="1" dirty="0">
                <a:solidFill>
                  <a:schemeClr val="bg2"/>
                </a:solidFill>
              </a:rPr>
              <a:t>글로벌 뷰티 브랜드</a:t>
            </a:r>
            <a:endParaRPr lang="en-US" sz="1400" dirty="0"/>
          </a:p>
        </p:txBody>
      </p:sp>
      <p:sp>
        <p:nvSpPr>
          <p:cNvPr id="10" name="Text 8"/>
          <p:cNvSpPr txBox="1"/>
          <p:nvPr/>
        </p:nvSpPr>
        <p:spPr>
          <a:xfrm>
            <a:off x="457200" y="3017520"/>
            <a:ext cx="868680" cy="365760"/>
          </a:xfrm>
          <a:prstGeom prst="rect">
            <a:avLst/>
          </a:prstGeom>
          <a:noFill/>
          <a:ln/>
        </p:spPr>
        <p:txBody>
          <a:bodyPr wrap="square" lIns="0" tIns="0" rIns="0" bIns="0" rtlCol="0" anchor="ctr"/>
          <a:lstStyle/>
          <a:p>
            <a:pPr marL="0" indent="0">
              <a:buNone/>
            </a:pPr>
            <a:r>
              <a:rPr lang="en-US" sz="1400" b="1" dirty="0">
                <a:solidFill>
                  <a:schemeClr val="accent3"/>
                </a:solidFill>
              </a:rPr>
              <a:t>대구</a:t>
            </a:r>
            <a:endParaRPr lang="en-US" sz="1400" dirty="0"/>
          </a:p>
        </p:txBody>
      </p:sp>
      <p:sp>
        <p:nvSpPr>
          <p:cNvPr id="11" name="From card 대구"/>
          <p:cNvSpPr/>
          <p:nvPr/>
        </p:nvSpPr>
        <p:spPr>
          <a:xfrm>
            <a:off x="1371600" y="2743200"/>
            <a:ext cx="1828800" cy="914400"/>
          </a:xfrm>
          <a:prstGeom prst="roundRect">
            <a:avLst>
              <a:gd name="adj" fmla="val 10000"/>
            </a:avLst>
          </a:prstGeom>
          <a:solidFill>
            <a:schemeClr val="bg1"/>
          </a:solidFill>
          <a:ln w="12700">
            <a:solidFill>
              <a:schemeClr val="accent4"/>
            </a:solidFill>
            <a:prstDash val="solid"/>
          </a:ln>
          <a:effectLst>
            <a:outerShdw blurRad="76200" dist="25400" dir="5400000" algn="bl" rotWithShape="0">
              <a:srgbClr val="000000">
                <a:alpha val="12000"/>
              </a:srgbClr>
            </a:outerShdw>
          </a:effectLst>
        </p:spPr>
      </p:sp>
      <p:sp>
        <p:nvSpPr>
          <p:cNvPr id="12" name="Text 10"/>
          <p:cNvSpPr txBox="1"/>
          <p:nvPr/>
        </p:nvSpPr>
        <p:spPr>
          <a:xfrm>
            <a:off x="1508760" y="2816352"/>
            <a:ext cx="1554480" cy="274320"/>
          </a:xfrm>
          <a:prstGeom prst="rect">
            <a:avLst/>
          </a:prstGeom>
          <a:noFill/>
          <a:ln/>
        </p:spPr>
        <p:txBody>
          <a:bodyPr wrap="square" lIns="0" tIns="0" rIns="0" bIns="0" rtlCol="0" anchor="ctr"/>
          <a:lstStyle/>
          <a:p>
            <a:pPr marL="0" indent="0">
              <a:buNone/>
            </a:pPr>
            <a:r>
              <a:rPr lang="en-US" sz="1300" b="1" dirty="0">
                <a:solidFill>
                  <a:schemeClr val="accent1"/>
                </a:solidFill>
              </a:rPr>
              <a:t>1658~</a:t>
            </a:r>
            <a:endParaRPr lang="en-US" sz="1300" dirty="0"/>
          </a:p>
        </p:txBody>
      </p:sp>
      <p:sp>
        <p:nvSpPr>
          <p:cNvPr id="13" name="Text 11"/>
          <p:cNvSpPr txBox="1"/>
          <p:nvPr/>
        </p:nvSpPr>
        <p:spPr>
          <a:xfrm>
            <a:off x="1508760" y="3090672"/>
            <a:ext cx="1554480" cy="502920"/>
          </a:xfrm>
          <a:prstGeom prst="rect">
            <a:avLst/>
          </a:prstGeom>
          <a:noFill/>
          <a:ln/>
        </p:spPr>
        <p:txBody>
          <a:bodyPr wrap="square" lIns="0" tIns="0" rIns="0" bIns="0" rtlCol="0" anchor="t"/>
          <a:lstStyle/>
          <a:p>
            <a:pPr marL="0" indent="0">
              <a:buNone/>
            </a:pPr>
            <a:r>
              <a:rPr lang="en-US" sz="1200" dirty="0">
                <a:solidFill>
                  <a:schemeClr val="tx1"/>
                </a:solidFill>
              </a:rPr>
              <a:t>약전골목</a:t>
            </a:r>
            <a:endParaRPr lang="en-US" sz="1200" dirty="0"/>
          </a:p>
          <a:p>
            <a:pPr marL="0" indent="0">
              <a:buNone/>
            </a:pPr>
            <a:r>
              <a:rPr lang="en-US" sz="1200" dirty="0">
                <a:solidFill>
                  <a:schemeClr val="tx1"/>
                </a:solidFill>
              </a:rPr>
              <a:t>(대구약령시)</a:t>
            </a:r>
            <a:endParaRPr lang="en-US" sz="1200" dirty="0"/>
          </a:p>
        </p:txBody>
      </p:sp>
      <p:sp>
        <p:nvSpPr>
          <p:cNvPr id="14" name="Arrow 대구"/>
          <p:cNvSpPr/>
          <p:nvPr/>
        </p:nvSpPr>
        <p:spPr>
          <a:xfrm>
            <a:off x="3337560" y="3063240"/>
            <a:ext cx="548640" cy="274320"/>
          </a:xfrm>
          <a:prstGeom prst="rightArrow">
            <a:avLst/>
          </a:prstGeom>
          <a:solidFill>
            <a:schemeClr val="accent1"/>
          </a:solidFill>
          <a:ln/>
        </p:spPr>
      </p:sp>
      <p:sp>
        <p:nvSpPr>
          <p:cNvPr id="15" name="To card 대구"/>
          <p:cNvSpPr/>
          <p:nvPr/>
        </p:nvSpPr>
        <p:spPr>
          <a:xfrm>
            <a:off x="4023360" y="2743200"/>
            <a:ext cx="1828800" cy="914400"/>
          </a:xfrm>
          <a:prstGeom prst="roundRect">
            <a:avLst>
              <a:gd name="adj" fmla="val 10000"/>
            </a:avLst>
          </a:prstGeom>
          <a:solidFill>
            <a:schemeClr val="tx1"/>
          </a:solidFill>
          <a:ln/>
        </p:spPr>
        <p:txBody>
          <a:bodyPr wrap="square" lIns="635" tIns="635" rIns="635" bIns="635" rtlCol="0" anchor="ctr"/>
          <a:lstStyle/>
          <a:p>
            <a:pPr marL="0" indent="0" algn="ctr">
              <a:buNone/>
            </a:pPr>
            <a:r>
              <a:rPr lang="en-US" sz="1400" b="1" dirty="0">
                <a:solidFill>
                  <a:schemeClr val="accent1"/>
                </a:solidFill>
              </a:rPr>
              <a:t>한방뷰티 브랜드 ?</a:t>
            </a:r>
            <a:endParaRPr lang="en-US" sz="1400" dirty="0"/>
          </a:p>
        </p:txBody>
      </p:sp>
      <p:pic>
        <p:nvPicPr>
          <p:cNvPr id="16" name="Alley illustration" descr="약전골목 한약방 거리 일러스트"/>
          <p:cNvPicPr>
            <a:picLocks noChangeAspect="1"/>
          </p:cNvPicPr>
          <p:nvPr/>
        </p:nvPicPr>
        <p:blipFill>
          <a:blip r:embed="rId3"/>
          <a:stretch>
            <a:fillRect/>
          </a:stretch>
        </p:blipFill>
        <p:spPr>
          <a:xfrm>
            <a:off x="6172200" y="1417320"/>
            <a:ext cx="2606040" cy="1714500"/>
          </a:xfrm>
          <a:prstGeom prst="rect">
            <a:avLst/>
          </a:prstGeom>
        </p:spPr>
      </p:pic>
      <p:sp>
        <p:nvSpPr>
          <p:cNvPr id="17" name="Text 14"/>
          <p:cNvSpPr txBox="1"/>
          <p:nvPr/>
        </p:nvSpPr>
        <p:spPr>
          <a:xfrm>
            <a:off x="6172200" y="3246120"/>
            <a:ext cx="2606040" cy="548640"/>
          </a:xfrm>
          <a:prstGeom prst="rect">
            <a:avLst/>
          </a:prstGeom>
          <a:noFill/>
          <a:ln/>
        </p:spPr>
        <p:txBody>
          <a:bodyPr wrap="square" lIns="0" tIns="0" rIns="0" bIns="0" rtlCol="0" anchor="t"/>
          <a:lstStyle/>
          <a:p>
            <a:pPr marL="0" indent="0">
              <a:buNone/>
            </a:pPr>
            <a:r>
              <a:rPr lang="en-US" sz="1100" dirty="0">
                <a:solidFill>
                  <a:schemeClr val="tx2"/>
                </a:solidFill>
              </a:rPr>
              <a:t>약전골목: 350년 넘게 이어온 한방 약재 거리, 대구의 원조 '약국'</a:t>
            </a:r>
            <a:endParaRPr lang="en-US" sz="1100" dirty="0"/>
          </a:p>
        </p:txBody>
      </p:sp>
      <p:sp>
        <p:nvSpPr>
          <p:cNvPr id="18" name="Text 15"/>
          <p:cNvSpPr txBox="1"/>
          <p:nvPr/>
        </p:nvSpPr>
        <p:spPr>
          <a:xfrm>
            <a:off x="457200" y="4206240"/>
            <a:ext cx="8321040" cy="411480"/>
          </a:xfrm>
          <a:prstGeom prst="rect">
            <a:avLst/>
          </a:prstGeom>
          <a:noFill/>
          <a:ln/>
        </p:spPr>
        <p:txBody>
          <a:bodyPr wrap="square" lIns="0" tIns="0" rIns="0" bIns="0" rtlCol="0" anchor="ctr"/>
          <a:lstStyle/>
          <a:p>
            <a:pPr marL="0" indent="0">
              <a:buNone/>
            </a:pPr>
            <a:r>
              <a:rPr lang="en-US" sz="1500" b="1" i="1" dirty="0">
                <a:solidFill>
                  <a:schemeClr val="tx2"/>
                </a:solidFill>
              </a:rPr>
              <a:t>시세이도가 약국에서 시작했다면, 대구의 '약국'은 약전골목이다</a:t>
            </a:r>
            <a:endParaRPr lang="en-US" sz="1500" dirty="0"/>
          </a:p>
        </p:txBody>
      </p:sp>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229600" cy="274320"/>
          </a:xfrm>
          <a:prstGeom prst="rect">
            <a:avLst/>
          </a:prstGeom>
          <a:noFill/>
          <a:ln/>
        </p:spPr>
        <p:txBody>
          <a:bodyPr wrap="square" lIns="0" tIns="0" rIns="0" bIns="0" rtlCol="0"/>
          <a:lstStyle/>
          <a:p>
            <a:pPr marL="0" indent="0">
              <a:buNone/>
            </a:pPr>
            <a:r>
              <a:rPr lang="en-US" sz="1100" b="1" kern="0" spc="200" dirty="0">
                <a:solidFill>
                  <a:schemeClr val="accent3"/>
                </a:solidFill>
              </a:rPr>
              <a:t>03  기획 의도</a:t>
            </a:r>
            <a:endParaRPr lang="en-US" sz="1100" dirty="0"/>
          </a:p>
        </p:txBody>
      </p:sp>
      <p:sp>
        <p:nvSpPr>
          <p:cNvPr id="3" name="Text 0"/>
          <p:cNvSpPr>
            <a:spLocks noGrp="1"/>
          </p:cNvSpPr>
          <p:nvPr>
            <p:ph type="title" idx="101" hasCustomPrompt="1"/>
          </p:nvPr>
        </p:nvSpPr>
        <p:spPr>
          <a:xfrm>
            <a:off x="457200" y="548640"/>
            <a:ext cx="8229600" cy="594360"/>
          </a:xfrm>
          <a:prstGeom prst="rect">
            <a:avLst/>
          </a:prstGeom>
          <a:noFill/>
          <a:ln/>
        </p:spPr>
        <p:txBody>
          <a:bodyPr wrap="square" lIns="0" tIns="0" rIns="0" bIns="0" rtlCol="0" anchor="t"/>
          <a:lstStyle/>
          <a:p>
            <a:pPr marL="0" indent="0" algn="l">
              <a:buNone/>
            </a:pPr>
            <a:r>
              <a:rPr lang="en-US" sz="2600" b="1" dirty="0">
                <a:solidFill>
                  <a:schemeClr val="tx1"/>
                </a:solidFill>
              </a:rPr>
              <a:t>지역의 오래된 자산을 오늘의 뷰티 브랜드로</a:t>
            </a:r>
            <a:endParaRPr lang="en-US" sz="2600" dirty="0"/>
          </a:p>
        </p:txBody>
      </p:sp>
      <p:sp>
        <p:nvSpPr>
          <p:cNvPr id="4" name="IP banner"/>
          <p:cNvSpPr/>
          <p:nvPr/>
        </p:nvSpPr>
        <p:spPr>
          <a:xfrm>
            <a:off x="457200" y="1280160"/>
            <a:ext cx="8321040" cy="457200"/>
          </a:xfrm>
          <a:prstGeom prst="roundRect">
            <a:avLst>
              <a:gd name="adj" fmla="val 24000"/>
            </a:avLst>
          </a:prstGeom>
          <a:solidFill>
            <a:schemeClr val="tx1"/>
          </a:solidFill>
          <a:ln/>
        </p:spPr>
        <p:txBody>
          <a:bodyPr wrap="square" lIns="0" tIns="0" rIns="0" bIns="0" rtlCol="0" anchor="ctr"/>
          <a:lstStyle/>
          <a:p>
            <a:pPr marL="0" indent="0" algn="ctr">
              <a:buNone/>
            </a:pPr>
            <a:r>
              <a:rPr lang="en-US" sz="1500" b="1" dirty="0">
                <a:solidFill>
                  <a:schemeClr val="accent1"/>
                </a:solidFill>
              </a:rPr>
              <a:t>약전골목의 역사 · 약재 · 이야기  →  한방뷰티 브랜드 IP</a:t>
            </a:r>
            <a:endParaRPr lang="en-US" sz="1500" dirty="0"/>
          </a:p>
        </p:txBody>
      </p:sp>
      <p:sp>
        <p:nvSpPr>
          <p:cNvPr id="5" name="Track card LOCAL"/>
          <p:cNvSpPr/>
          <p:nvPr/>
        </p:nvSpPr>
        <p:spPr>
          <a:xfrm>
            <a:off x="457200" y="1965960"/>
            <a:ext cx="2651760" cy="2651760"/>
          </a:xfrm>
          <a:prstGeom prst="roundRect">
            <a:avLst>
              <a:gd name="adj" fmla="val 3448"/>
            </a:avLst>
          </a:prstGeom>
          <a:solidFill>
            <a:schemeClr val="bg1"/>
          </a:solidFill>
          <a:ln w="12700">
            <a:solidFill>
              <a:schemeClr val="accent4"/>
            </a:solidFill>
            <a:prstDash val="solid"/>
          </a:ln>
          <a:effectLst>
            <a:outerShdw blurRad="76200" dist="25400" dir="5400000" algn="bl" rotWithShape="0">
              <a:srgbClr val="000000">
                <a:alpha val="12000"/>
              </a:srgbClr>
            </a:outerShdw>
          </a:effectLst>
        </p:spPr>
      </p:sp>
      <p:sp>
        <p:nvSpPr>
          <p:cNvPr id="6" name="Track dot LOCAL"/>
          <p:cNvSpPr/>
          <p:nvPr/>
        </p:nvSpPr>
        <p:spPr>
          <a:xfrm>
            <a:off x="685800" y="2148840"/>
            <a:ext cx="548640" cy="548640"/>
          </a:xfrm>
          <a:prstGeom prst="ellipse">
            <a:avLst/>
          </a:prstGeom>
          <a:solidFill>
            <a:schemeClr val="tx2"/>
          </a:solidFill>
          <a:ln/>
        </p:spPr>
      </p:sp>
      <p:pic>
        <p:nvPicPr>
          <p:cNvPr id="7" name="Track icon LOCAL" descr="preencoded.png"/>
          <p:cNvPicPr>
            <a:picLocks noChangeAspect="1"/>
          </p:cNvPicPr>
          <p:nvPr/>
        </p:nvPicPr>
        <p:blipFill>
          <a:blip r:embed="rId3"/>
          <a:stretch>
            <a:fillRect/>
          </a:stretch>
        </p:blipFill>
        <p:spPr>
          <a:xfrm>
            <a:off x="822960" y="2286000"/>
            <a:ext cx="274320" cy="274320"/>
          </a:xfrm>
          <a:prstGeom prst="rect">
            <a:avLst/>
          </a:prstGeom>
        </p:spPr>
      </p:pic>
      <p:sp>
        <p:nvSpPr>
          <p:cNvPr id="8" name="Text 5"/>
          <p:cNvSpPr txBox="1"/>
          <p:nvPr/>
        </p:nvSpPr>
        <p:spPr>
          <a:xfrm>
            <a:off x="1371600" y="2240280"/>
            <a:ext cx="1645920" cy="365760"/>
          </a:xfrm>
          <a:prstGeom prst="rect">
            <a:avLst/>
          </a:prstGeom>
          <a:noFill/>
          <a:ln/>
        </p:spPr>
        <p:txBody>
          <a:bodyPr wrap="square" lIns="0" tIns="0" rIns="0" bIns="0" rtlCol="0" anchor="ctr"/>
          <a:lstStyle/>
          <a:p>
            <a:pPr marL="0" indent="0">
              <a:buNone/>
            </a:pPr>
            <a:r>
              <a:rPr lang="en-US" sz="1500" b="1" kern="0" spc="100" dirty="0">
                <a:solidFill>
                  <a:schemeClr val="tx1"/>
                </a:solidFill>
              </a:rPr>
              <a:t>LOCAL</a:t>
            </a:r>
            <a:endParaRPr lang="en-US" sz="1500" dirty="0"/>
          </a:p>
        </p:txBody>
      </p:sp>
      <p:sp>
        <p:nvSpPr>
          <p:cNvPr id="9" name="Text 6"/>
          <p:cNvSpPr txBox="1"/>
          <p:nvPr/>
        </p:nvSpPr>
        <p:spPr>
          <a:xfrm>
            <a:off x="685800" y="2880360"/>
            <a:ext cx="2240280" cy="777240"/>
          </a:xfrm>
          <a:prstGeom prst="rect">
            <a:avLst/>
          </a:prstGeom>
          <a:noFill/>
          <a:ln/>
        </p:spPr>
        <p:txBody>
          <a:bodyPr wrap="square" lIns="0" tIns="0" rIns="0" bIns="0" rtlCol="0" anchor="t"/>
          <a:lstStyle/>
          <a:p>
            <a:pPr marL="0" indent="0">
              <a:buNone/>
            </a:pPr>
            <a:r>
              <a:rPr lang="en-US" sz="1200" dirty="0">
                <a:solidFill>
                  <a:schemeClr val="tx2"/>
                </a:solidFill>
              </a:rPr>
              <a:t>지역 자산 조사 → 브랜드 페르소나·세계관</a:t>
            </a:r>
            <a:endParaRPr lang="en-US" sz="1200" dirty="0"/>
          </a:p>
        </p:txBody>
      </p:sp>
      <p:sp>
        <p:nvSpPr>
          <p:cNvPr id="10" name="Text 7"/>
          <p:cNvSpPr txBox="1"/>
          <p:nvPr/>
        </p:nvSpPr>
        <p:spPr>
          <a:xfrm>
            <a:off x="685800" y="3703320"/>
            <a:ext cx="2240280" cy="228600"/>
          </a:xfrm>
          <a:prstGeom prst="rect">
            <a:avLst/>
          </a:prstGeom>
          <a:noFill/>
          <a:ln/>
        </p:spPr>
        <p:txBody>
          <a:bodyPr wrap="square" lIns="0" tIns="0" rIns="0" bIns="0" rtlCol="0" anchor="ctr"/>
          <a:lstStyle/>
          <a:p>
            <a:pPr marL="0" indent="0">
              <a:buNone/>
            </a:pPr>
            <a:r>
              <a:rPr lang="en-US" sz="1000" b="1" dirty="0">
                <a:solidFill>
                  <a:schemeClr val="accent3"/>
                </a:solidFill>
              </a:rPr>
              <a:t>산출물</a:t>
            </a:r>
            <a:endParaRPr lang="en-US" sz="1000" dirty="0"/>
          </a:p>
        </p:txBody>
      </p:sp>
      <p:sp>
        <p:nvSpPr>
          <p:cNvPr id="11" name="Text 8"/>
          <p:cNvSpPr txBox="1"/>
          <p:nvPr/>
        </p:nvSpPr>
        <p:spPr>
          <a:xfrm>
            <a:off x="685800" y="3931920"/>
            <a:ext cx="2240280" cy="548640"/>
          </a:xfrm>
          <a:prstGeom prst="rect">
            <a:avLst/>
          </a:prstGeom>
          <a:noFill/>
          <a:ln/>
        </p:spPr>
        <p:txBody>
          <a:bodyPr wrap="square" lIns="0" tIns="0" rIns="0" bIns="0" rtlCol="0" anchor="t"/>
          <a:lstStyle/>
          <a:p>
            <a:pPr marL="0" indent="0">
              <a:buNone/>
            </a:pPr>
            <a:r>
              <a:rPr lang="en-US" sz="1200" b="1" dirty="0">
                <a:solidFill>
                  <a:schemeClr val="tx1"/>
                </a:solidFill>
              </a:rPr>
              <a:t>브랜드 지식 파일</a:t>
            </a:r>
            <a:endParaRPr lang="en-US" sz="1200" dirty="0"/>
          </a:p>
        </p:txBody>
      </p:sp>
      <p:sp>
        <p:nvSpPr>
          <p:cNvPr id="12" name="Track card LIFESTYLE"/>
          <p:cNvSpPr/>
          <p:nvPr/>
        </p:nvSpPr>
        <p:spPr>
          <a:xfrm>
            <a:off x="3291840" y="1965960"/>
            <a:ext cx="2651760" cy="2651760"/>
          </a:xfrm>
          <a:prstGeom prst="roundRect">
            <a:avLst>
              <a:gd name="adj" fmla="val 3448"/>
            </a:avLst>
          </a:prstGeom>
          <a:solidFill>
            <a:schemeClr val="bg1"/>
          </a:solidFill>
          <a:ln w="12700">
            <a:solidFill>
              <a:schemeClr val="accent4"/>
            </a:solidFill>
            <a:prstDash val="solid"/>
          </a:ln>
          <a:effectLst>
            <a:outerShdw blurRad="76200" dist="25400" dir="5400000" algn="bl" rotWithShape="0">
              <a:srgbClr val="000000">
                <a:alpha val="12000"/>
              </a:srgbClr>
            </a:outerShdw>
          </a:effectLst>
        </p:spPr>
      </p:sp>
      <p:sp>
        <p:nvSpPr>
          <p:cNvPr id="13" name="Track dot LIFESTYLE"/>
          <p:cNvSpPr/>
          <p:nvPr/>
        </p:nvSpPr>
        <p:spPr>
          <a:xfrm>
            <a:off x="3520440" y="2148840"/>
            <a:ext cx="548640" cy="548640"/>
          </a:xfrm>
          <a:prstGeom prst="ellipse">
            <a:avLst/>
          </a:prstGeom>
          <a:solidFill>
            <a:schemeClr val="accent1"/>
          </a:solidFill>
          <a:ln/>
        </p:spPr>
      </p:sp>
      <p:pic>
        <p:nvPicPr>
          <p:cNvPr id="14" name="Track icon LIFESTYLE" descr="preencoded.png"/>
          <p:cNvPicPr>
            <a:picLocks noChangeAspect="1"/>
          </p:cNvPicPr>
          <p:nvPr/>
        </p:nvPicPr>
        <p:blipFill>
          <a:blip r:embed="rId4"/>
          <a:stretch>
            <a:fillRect/>
          </a:stretch>
        </p:blipFill>
        <p:spPr>
          <a:xfrm>
            <a:off x="3657600" y="2286000"/>
            <a:ext cx="274320" cy="274320"/>
          </a:xfrm>
          <a:prstGeom prst="rect">
            <a:avLst/>
          </a:prstGeom>
        </p:spPr>
      </p:pic>
      <p:sp>
        <p:nvSpPr>
          <p:cNvPr id="15" name="Text 11"/>
          <p:cNvSpPr txBox="1"/>
          <p:nvPr/>
        </p:nvSpPr>
        <p:spPr>
          <a:xfrm>
            <a:off x="4206240" y="2240280"/>
            <a:ext cx="1645920" cy="365760"/>
          </a:xfrm>
          <a:prstGeom prst="rect">
            <a:avLst/>
          </a:prstGeom>
          <a:noFill/>
          <a:ln/>
        </p:spPr>
        <p:txBody>
          <a:bodyPr wrap="square" lIns="0" tIns="0" rIns="0" bIns="0" rtlCol="0" anchor="ctr"/>
          <a:lstStyle/>
          <a:p>
            <a:pPr marL="0" indent="0">
              <a:buNone/>
            </a:pPr>
            <a:r>
              <a:rPr lang="en-US" sz="1500" b="1" kern="0" spc="100" dirty="0">
                <a:solidFill>
                  <a:schemeClr val="tx1"/>
                </a:solidFill>
              </a:rPr>
              <a:t>LIFESTYLE</a:t>
            </a:r>
            <a:endParaRPr lang="en-US" sz="1500" dirty="0"/>
          </a:p>
        </p:txBody>
      </p:sp>
      <p:sp>
        <p:nvSpPr>
          <p:cNvPr id="16" name="Text 12"/>
          <p:cNvSpPr txBox="1"/>
          <p:nvPr/>
        </p:nvSpPr>
        <p:spPr>
          <a:xfrm>
            <a:off x="3520440" y="2880360"/>
            <a:ext cx="2240280" cy="777240"/>
          </a:xfrm>
          <a:prstGeom prst="rect">
            <a:avLst/>
          </a:prstGeom>
          <a:noFill/>
          <a:ln/>
        </p:spPr>
        <p:txBody>
          <a:bodyPr wrap="square" lIns="0" tIns="0" rIns="0" bIns="0" rtlCol="0" anchor="t"/>
          <a:lstStyle/>
          <a:p>
            <a:pPr marL="0" indent="0">
              <a:buNone/>
            </a:pPr>
            <a:r>
              <a:rPr lang="en-US" sz="1200" dirty="0">
                <a:solidFill>
                  <a:schemeClr val="tx2"/>
                </a:solidFill>
              </a:rPr>
              <a:t>IP → 콘텐츠 → 캠페인 → 뷰티 커머스 기획전</a:t>
            </a:r>
            <a:endParaRPr lang="en-US" sz="1200" dirty="0"/>
          </a:p>
        </p:txBody>
      </p:sp>
      <p:sp>
        <p:nvSpPr>
          <p:cNvPr id="17" name="Text 13"/>
          <p:cNvSpPr txBox="1"/>
          <p:nvPr/>
        </p:nvSpPr>
        <p:spPr>
          <a:xfrm>
            <a:off x="3520440" y="3703320"/>
            <a:ext cx="2240280" cy="228600"/>
          </a:xfrm>
          <a:prstGeom prst="rect">
            <a:avLst/>
          </a:prstGeom>
          <a:noFill/>
          <a:ln/>
        </p:spPr>
        <p:txBody>
          <a:bodyPr wrap="square" lIns="0" tIns="0" rIns="0" bIns="0" rtlCol="0" anchor="ctr"/>
          <a:lstStyle/>
          <a:p>
            <a:pPr marL="0" indent="0">
              <a:buNone/>
            </a:pPr>
            <a:r>
              <a:rPr lang="en-US" sz="1000" b="1" dirty="0">
                <a:solidFill>
                  <a:schemeClr val="accent3"/>
                </a:solidFill>
              </a:rPr>
              <a:t>산출물</a:t>
            </a:r>
            <a:endParaRPr lang="en-US" sz="1000" dirty="0"/>
          </a:p>
        </p:txBody>
      </p:sp>
      <p:sp>
        <p:nvSpPr>
          <p:cNvPr id="18" name="Text 14"/>
          <p:cNvSpPr txBox="1"/>
          <p:nvPr/>
        </p:nvSpPr>
        <p:spPr>
          <a:xfrm>
            <a:off x="3520440" y="3931920"/>
            <a:ext cx="2240280" cy="548640"/>
          </a:xfrm>
          <a:prstGeom prst="rect">
            <a:avLst/>
          </a:prstGeom>
          <a:noFill/>
          <a:ln/>
        </p:spPr>
        <p:txBody>
          <a:bodyPr wrap="square" lIns="0" tIns="0" rIns="0" bIns="0" rtlCol="0" anchor="t"/>
          <a:lstStyle/>
          <a:p>
            <a:pPr marL="0" indent="0">
              <a:buNone/>
            </a:pPr>
            <a:r>
              <a:rPr lang="en-US" sz="1200" b="1" dirty="0">
                <a:solidFill>
                  <a:schemeClr val="tx1"/>
                </a:solidFill>
              </a:rPr>
              <a:t>캠페인 템플릿 · 키 비주얼 · 숏폼 MVP</a:t>
            </a:r>
            <a:endParaRPr lang="en-US" sz="1200" dirty="0"/>
          </a:p>
        </p:txBody>
      </p:sp>
      <p:sp>
        <p:nvSpPr>
          <p:cNvPr id="19" name="Track card MODELING"/>
          <p:cNvSpPr/>
          <p:nvPr/>
        </p:nvSpPr>
        <p:spPr>
          <a:xfrm>
            <a:off x="6126480" y="1965960"/>
            <a:ext cx="2651760" cy="2651760"/>
          </a:xfrm>
          <a:prstGeom prst="roundRect">
            <a:avLst>
              <a:gd name="adj" fmla="val 3448"/>
            </a:avLst>
          </a:prstGeom>
          <a:solidFill>
            <a:schemeClr val="bg1"/>
          </a:solidFill>
          <a:ln w="12700">
            <a:solidFill>
              <a:schemeClr val="accent4"/>
            </a:solidFill>
            <a:prstDash val="solid"/>
          </a:ln>
          <a:effectLst>
            <a:outerShdw blurRad="76200" dist="25400" dir="5400000" algn="bl" rotWithShape="0">
              <a:srgbClr val="000000">
                <a:alpha val="12000"/>
              </a:srgbClr>
            </a:outerShdw>
          </a:effectLst>
        </p:spPr>
      </p:sp>
      <p:sp>
        <p:nvSpPr>
          <p:cNvPr id="20" name="Track dot MODELING"/>
          <p:cNvSpPr/>
          <p:nvPr/>
        </p:nvSpPr>
        <p:spPr>
          <a:xfrm>
            <a:off x="6355080" y="2148840"/>
            <a:ext cx="548640" cy="548640"/>
          </a:xfrm>
          <a:prstGeom prst="ellipse">
            <a:avLst/>
          </a:prstGeom>
          <a:solidFill>
            <a:schemeClr val="accent2"/>
          </a:solidFill>
          <a:ln/>
        </p:spPr>
      </p:sp>
      <p:pic>
        <p:nvPicPr>
          <p:cNvPr id="21" name="Track icon MODELING" descr="preencoded.png"/>
          <p:cNvPicPr>
            <a:picLocks noChangeAspect="1"/>
          </p:cNvPicPr>
          <p:nvPr/>
        </p:nvPicPr>
        <p:blipFill>
          <a:blip r:embed="rId5"/>
          <a:stretch>
            <a:fillRect/>
          </a:stretch>
        </p:blipFill>
        <p:spPr>
          <a:xfrm>
            <a:off x="6492240" y="2286000"/>
            <a:ext cx="274320" cy="274320"/>
          </a:xfrm>
          <a:prstGeom prst="rect">
            <a:avLst/>
          </a:prstGeom>
        </p:spPr>
      </p:pic>
      <p:sp>
        <p:nvSpPr>
          <p:cNvPr id="22" name="Text 17"/>
          <p:cNvSpPr txBox="1"/>
          <p:nvPr/>
        </p:nvSpPr>
        <p:spPr>
          <a:xfrm>
            <a:off x="7040880" y="2240280"/>
            <a:ext cx="1645920" cy="365760"/>
          </a:xfrm>
          <a:prstGeom prst="rect">
            <a:avLst/>
          </a:prstGeom>
          <a:noFill/>
          <a:ln/>
        </p:spPr>
        <p:txBody>
          <a:bodyPr wrap="square" lIns="0" tIns="0" rIns="0" bIns="0" rtlCol="0" anchor="ctr"/>
          <a:lstStyle/>
          <a:p>
            <a:pPr marL="0" indent="0">
              <a:buNone/>
            </a:pPr>
            <a:r>
              <a:rPr lang="en-US" sz="1500" b="1" kern="0" spc="100" dirty="0">
                <a:solidFill>
                  <a:schemeClr val="tx1"/>
                </a:solidFill>
              </a:rPr>
              <a:t>MODELING</a:t>
            </a:r>
            <a:endParaRPr lang="en-US" sz="1500" dirty="0"/>
          </a:p>
        </p:txBody>
      </p:sp>
      <p:sp>
        <p:nvSpPr>
          <p:cNvPr id="23" name="Text 18"/>
          <p:cNvSpPr txBox="1"/>
          <p:nvPr/>
        </p:nvSpPr>
        <p:spPr>
          <a:xfrm>
            <a:off x="6355080" y="2880360"/>
            <a:ext cx="2240280" cy="777240"/>
          </a:xfrm>
          <a:prstGeom prst="rect">
            <a:avLst/>
          </a:prstGeom>
          <a:noFill/>
          <a:ln/>
        </p:spPr>
        <p:txBody>
          <a:bodyPr wrap="square" lIns="0" tIns="0" rIns="0" bIns="0" rtlCol="0" anchor="t"/>
          <a:lstStyle/>
          <a:p>
            <a:pPr marL="0" indent="0">
              <a:buNone/>
            </a:pPr>
            <a:r>
              <a:rPr lang="en-US" sz="1200" dirty="0">
                <a:solidFill>
                  <a:schemeClr val="tx2"/>
                </a:solidFill>
              </a:rPr>
              <a:t>캐릭터 시트 · 멀티모델 숏폼 · 마이크로사이트</a:t>
            </a:r>
            <a:endParaRPr lang="en-US" sz="1200" dirty="0"/>
          </a:p>
        </p:txBody>
      </p:sp>
      <p:sp>
        <p:nvSpPr>
          <p:cNvPr id="24" name="Text 19"/>
          <p:cNvSpPr txBox="1"/>
          <p:nvPr/>
        </p:nvSpPr>
        <p:spPr>
          <a:xfrm>
            <a:off x="6355080" y="3703320"/>
            <a:ext cx="2240280" cy="228600"/>
          </a:xfrm>
          <a:prstGeom prst="rect">
            <a:avLst/>
          </a:prstGeom>
          <a:noFill/>
          <a:ln/>
        </p:spPr>
        <p:txBody>
          <a:bodyPr wrap="square" lIns="0" tIns="0" rIns="0" bIns="0" rtlCol="0" anchor="ctr"/>
          <a:lstStyle/>
          <a:p>
            <a:pPr marL="0" indent="0">
              <a:buNone/>
            </a:pPr>
            <a:r>
              <a:rPr lang="en-US" sz="1000" b="1" dirty="0">
                <a:solidFill>
                  <a:schemeClr val="accent3"/>
                </a:solidFill>
              </a:rPr>
              <a:t>산출물</a:t>
            </a:r>
            <a:endParaRPr lang="en-US" sz="1000" dirty="0"/>
          </a:p>
        </p:txBody>
      </p:sp>
      <p:sp>
        <p:nvSpPr>
          <p:cNvPr id="25" name="Text 20"/>
          <p:cNvSpPr txBox="1"/>
          <p:nvPr/>
        </p:nvSpPr>
        <p:spPr>
          <a:xfrm>
            <a:off x="6355080" y="3931920"/>
            <a:ext cx="2240280" cy="548640"/>
          </a:xfrm>
          <a:prstGeom prst="rect">
            <a:avLst/>
          </a:prstGeom>
          <a:noFill/>
          <a:ln/>
        </p:spPr>
        <p:txBody>
          <a:bodyPr wrap="square" lIns="0" tIns="0" rIns="0" bIns="0" rtlCol="0" anchor="t"/>
          <a:lstStyle/>
          <a:p>
            <a:pPr marL="0" indent="0">
              <a:buNone/>
            </a:pPr>
            <a:r>
              <a:rPr lang="en-US" sz="1200" b="1" dirty="0">
                <a:solidFill>
                  <a:schemeClr val="tx1"/>
                </a:solidFill>
              </a:rPr>
              <a:t>콘텐츠 기획·제작·발행 에이전트</a:t>
            </a:r>
            <a:endParaRPr lang="en-US" sz="1200" dirty="0"/>
          </a:p>
        </p:txBody>
      </p:sp>
      <p:sp>
        <p:nvSpPr>
          <p:cNvPr id="26"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229600" cy="274320"/>
          </a:xfrm>
          <a:prstGeom prst="rect">
            <a:avLst/>
          </a:prstGeom>
          <a:noFill/>
          <a:ln/>
        </p:spPr>
        <p:txBody>
          <a:bodyPr wrap="square" lIns="0" tIns="0" rIns="0" bIns="0" rtlCol="0"/>
          <a:lstStyle/>
          <a:p>
            <a:pPr marL="0" indent="0">
              <a:buNone/>
            </a:pPr>
            <a:r>
              <a:rPr lang="en-US" sz="1100" b="1" kern="0" spc="200" dirty="0">
                <a:solidFill>
                  <a:schemeClr val="accent3"/>
                </a:solidFill>
              </a:rPr>
              <a:t>05  기초 라인업</a:t>
            </a:r>
            <a:endParaRPr lang="en-US" sz="1100" dirty="0"/>
          </a:p>
        </p:txBody>
      </p:sp>
      <p:sp>
        <p:nvSpPr>
          <p:cNvPr id="3" name="Text 0"/>
          <p:cNvSpPr>
            <a:spLocks noGrp="1"/>
          </p:cNvSpPr>
          <p:nvPr>
            <p:ph type="title" idx="101" hasCustomPrompt="1"/>
          </p:nvPr>
        </p:nvSpPr>
        <p:spPr>
          <a:xfrm>
            <a:off x="457200" y="548640"/>
            <a:ext cx="8229600" cy="594360"/>
          </a:xfrm>
          <a:prstGeom prst="rect">
            <a:avLst/>
          </a:prstGeom>
          <a:noFill/>
          <a:ln/>
        </p:spPr>
        <p:txBody>
          <a:bodyPr wrap="square" lIns="0" tIns="0" rIns="0" bIns="0" rtlCol="0" anchor="t"/>
          <a:lstStyle/>
          <a:p>
            <a:pPr marL="0" indent="0" algn="l">
              <a:buNone/>
            </a:pPr>
            <a:r>
              <a:rPr lang="en-US" sz="2600" b="1" dirty="0">
                <a:solidFill>
                  <a:schemeClr val="tx1"/>
                </a:solidFill>
              </a:rPr>
              <a:t>한약재로 나눈 4가지 특화 기초 라인</a:t>
            </a:r>
            <a:endParaRPr lang="en-US" sz="2600" dirty="0"/>
          </a:p>
        </p:txBody>
      </p:sp>
      <p:sp>
        <p:nvSpPr>
          <p:cNvPr id="4" name="Line card 수분 라인"/>
          <p:cNvSpPr/>
          <p:nvPr/>
        </p:nvSpPr>
        <p:spPr>
          <a:xfrm>
            <a:off x="457200" y="1325880"/>
            <a:ext cx="1965960" cy="3383280"/>
          </a:xfrm>
          <a:prstGeom prst="roundRect">
            <a:avLst>
              <a:gd name="adj" fmla="val 5581"/>
            </a:avLst>
          </a:prstGeom>
          <a:solidFill>
            <a:schemeClr val="bg1"/>
          </a:solidFill>
          <a:ln w="12700">
            <a:solidFill>
              <a:srgbClr val="E2D6C4"/>
            </a:solidFill>
            <a:prstDash val="solid"/>
          </a:ln>
          <a:effectLst>
            <a:outerShdw blurRad="76200" dist="25400" dir="5400000" algn="bl" rotWithShape="0">
              <a:srgbClr val="000000">
                <a:alpha val="10000"/>
              </a:srgbClr>
            </a:outerShdw>
          </a:effectLst>
        </p:spPr>
      </p:sp>
      <p:pic>
        <p:nvPicPr>
          <p:cNvPr id="5" name="Herb 당귀" descr="당귀 일러스트"/>
          <p:cNvPicPr>
            <a:picLocks noChangeAspect="1"/>
          </p:cNvPicPr>
          <p:nvPr/>
        </p:nvPicPr>
        <p:blipFill>
          <a:blip r:embed="rId3"/>
          <a:stretch>
            <a:fillRect/>
          </a:stretch>
        </p:blipFill>
        <p:spPr>
          <a:xfrm>
            <a:off x="868680" y="1463040"/>
            <a:ext cx="1143000" cy="1143000"/>
          </a:xfrm>
          <a:prstGeom prst="rect">
            <a:avLst/>
          </a:prstGeom>
        </p:spPr>
      </p:pic>
      <p:sp>
        <p:nvSpPr>
          <p:cNvPr id="6" name="Text 3"/>
          <p:cNvSpPr txBox="1"/>
          <p:nvPr/>
        </p:nvSpPr>
        <p:spPr>
          <a:xfrm>
            <a:off x="594360" y="2724912"/>
            <a:ext cx="1691640" cy="365760"/>
          </a:xfrm>
          <a:prstGeom prst="rect">
            <a:avLst/>
          </a:prstGeom>
          <a:noFill/>
          <a:ln/>
        </p:spPr>
        <p:txBody>
          <a:bodyPr wrap="square" lIns="0" tIns="0" rIns="0" bIns="0" rtlCol="0" anchor="ctr"/>
          <a:lstStyle/>
          <a:p>
            <a:pPr marL="0" indent="0" algn="ctr">
              <a:buNone/>
            </a:pPr>
            <a:r>
              <a:rPr lang="en-US" sz="1800" b="1" dirty="0">
                <a:solidFill>
                  <a:srgbClr val="4E6E86"/>
                </a:solidFill>
              </a:rPr>
              <a:t>수분 라인</a:t>
            </a:r>
            <a:endParaRPr lang="en-US" sz="1800" dirty="0"/>
          </a:p>
        </p:txBody>
      </p:sp>
      <p:sp>
        <p:nvSpPr>
          <p:cNvPr id="7" name="Text 4"/>
          <p:cNvSpPr txBox="1"/>
          <p:nvPr/>
        </p:nvSpPr>
        <p:spPr>
          <a:xfrm>
            <a:off x="594360" y="3090672"/>
            <a:ext cx="1691640" cy="274320"/>
          </a:xfrm>
          <a:prstGeom prst="rect">
            <a:avLst/>
          </a:prstGeom>
          <a:noFill/>
          <a:ln/>
        </p:spPr>
        <p:txBody>
          <a:bodyPr wrap="square" lIns="0" tIns="0" rIns="0" bIns="0" rtlCol="0" anchor="ctr"/>
          <a:lstStyle/>
          <a:p>
            <a:pPr marL="0" indent="0" algn="ctr">
              <a:buNone/>
            </a:pPr>
            <a:r>
              <a:rPr lang="en-US" sz="1300" b="1" dirty="0">
                <a:solidFill>
                  <a:schemeClr val="tx1"/>
                </a:solidFill>
              </a:rPr>
              <a:t>당귀</a:t>
            </a:r>
            <a:r>
              <a:rPr lang="en-US" sz="1300" dirty="0">
                <a:solidFill>
                  <a:srgbClr val="4E6E86"/>
                </a:solidFill>
              </a:rPr>
              <a:t>  當歸</a:t>
            </a:r>
            <a:endParaRPr lang="en-US" sz="1300" dirty="0"/>
          </a:p>
        </p:txBody>
      </p:sp>
      <p:sp>
        <p:nvSpPr>
          <p:cNvPr id="8" name="Text 5"/>
          <p:cNvSpPr txBox="1"/>
          <p:nvPr/>
        </p:nvSpPr>
        <p:spPr>
          <a:xfrm>
            <a:off x="621792" y="3456432"/>
            <a:ext cx="1636776" cy="566928"/>
          </a:xfrm>
          <a:prstGeom prst="rect">
            <a:avLst/>
          </a:prstGeom>
          <a:noFill/>
          <a:ln/>
        </p:spPr>
        <p:txBody>
          <a:bodyPr wrap="square" lIns="0" tIns="0" rIns="0" bIns="0" rtlCol="0" anchor="t"/>
          <a:lstStyle/>
          <a:p>
            <a:pPr marL="0" indent="0" algn="ctr">
              <a:buNone/>
            </a:pPr>
            <a:r>
              <a:rPr lang="en-US" sz="1100" dirty="0">
                <a:solidFill>
                  <a:schemeClr val="tx2"/>
                </a:solidFill>
              </a:rPr>
              <a:t>윤기를 채우는 약재로 건조한 피부에 촉촉한 수분감을</a:t>
            </a:r>
            <a:endParaRPr lang="en-US" sz="1100" dirty="0"/>
          </a:p>
        </p:txBody>
      </p:sp>
      <p:sp>
        <p:nvSpPr>
          <p:cNvPr id="9" name="Set 수분 라인"/>
          <p:cNvSpPr/>
          <p:nvPr/>
        </p:nvSpPr>
        <p:spPr>
          <a:xfrm>
            <a:off x="621792" y="4160520"/>
            <a:ext cx="1636776" cy="347472"/>
          </a:xfrm>
          <a:prstGeom prst="roundRect">
            <a:avLst>
              <a:gd name="adj" fmla="val 39474"/>
            </a:avLst>
          </a:prstGeom>
          <a:solidFill>
            <a:schemeClr val="bg2"/>
          </a:solidFill>
          <a:ln/>
        </p:spPr>
        <p:txBody>
          <a:bodyPr wrap="square" lIns="0" tIns="0" rIns="0" bIns="0" rtlCol="0" anchor="ctr"/>
          <a:lstStyle/>
          <a:p>
            <a:pPr marL="0" indent="0" algn="ctr">
              <a:buNone/>
            </a:pPr>
            <a:r>
              <a:rPr lang="en-US" sz="1100" b="1" dirty="0">
                <a:solidFill>
                  <a:srgbClr val="4E6E86"/>
                </a:solidFill>
              </a:rPr>
              <a:t>수분 토너 · 에센스</a:t>
            </a:r>
            <a:endParaRPr lang="en-US" sz="1100" dirty="0"/>
          </a:p>
        </p:txBody>
      </p:sp>
      <p:sp>
        <p:nvSpPr>
          <p:cNvPr id="10" name="Line card 진정 라인"/>
          <p:cNvSpPr/>
          <p:nvPr/>
        </p:nvSpPr>
        <p:spPr>
          <a:xfrm>
            <a:off x="2578608" y="1325880"/>
            <a:ext cx="1965960" cy="3383280"/>
          </a:xfrm>
          <a:prstGeom prst="roundRect">
            <a:avLst>
              <a:gd name="adj" fmla="val 5581"/>
            </a:avLst>
          </a:prstGeom>
          <a:solidFill>
            <a:schemeClr val="bg1"/>
          </a:solidFill>
          <a:ln w="12700">
            <a:solidFill>
              <a:srgbClr val="E2D6C4"/>
            </a:solidFill>
            <a:prstDash val="solid"/>
          </a:ln>
          <a:effectLst>
            <a:outerShdw blurRad="76200" dist="25400" dir="5400000" algn="bl" rotWithShape="0">
              <a:srgbClr val="000000">
                <a:alpha val="10000"/>
              </a:srgbClr>
            </a:outerShdw>
          </a:effectLst>
        </p:spPr>
      </p:sp>
      <p:pic>
        <p:nvPicPr>
          <p:cNvPr id="11" name="Herb 쑥" descr="쑥 일러스트"/>
          <p:cNvPicPr>
            <a:picLocks noChangeAspect="1"/>
          </p:cNvPicPr>
          <p:nvPr/>
        </p:nvPicPr>
        <p:blipFill>
          <a:blip r:embed="rId4"/>
          <a:stretch>
            <a:fillRect/>
          </a:stretch>
        </p:blipFill>
        <p:spPr>
          <a:xfrm>
            <a:off x="2990088" y="1463040"/>
            <a:ext cx="1143000" cy="1143000"/>
          </a:xfrm>
          <a:prstGeom prst="rect">
            <a:avLst/>
          </a:prstGeom>
        </p:spPr>
      </p:pic>
      <p:sp>
        <p:nvSpPr>
          <p:cNvPr id="12" name="Text 8"/>
          <p:cNvSpPr txBox="1"/>
          <p:nvPr/>
        </p:nvSpPr>
        <p:spPr>
          <a:xfrm>
            <a:off x="2715768" y="2724912"/>
            <a:ext cx="1691640" cy="365760"/>
          </a:xfrm>
          <a:prstGeom prst="rect">
            <a:avLst/>
          </a:prstGeom>
          <a:noFill/>
          <a:ln/>
        </p:spPr>
        <p:txBody>
          <a:bodyPr wrap="square" lIns="0" tIns="0" rIns="0" bIns="0" rtlCol="0" anchor="ctr"/>
          <a:lstStyle/>
          <a:p>
            <a:pPr marL="0" indent="0" algn="ctr">
              <a:buNone/>
            </a:pPr>
            <a:r>
              <a:rPr lang="en-US" sz="1800" b="1" dirty="0">
                <a:solidFill>
                  <a:srgbClr val="56653F"/>
                </a:solidFill>
              </a:rPr>
              <a:t>진정 라인</a:t>
            </a:r>
            <a:endParaRPr lang="en-US" sz="1800" dirty="0"/>
          </a:p>
        </p:txBody>
      </p:sp>
      <p:sp>
        <p:nvSpPr>
          <p:cNvPr id="13" name="Text 9"/>
          <p:cNvSpPr txBox="1"/>
          <p:nvPr/>
        </p:nvSpPr>
        <p:spPr>
          <a:xfrm>
            <a:off x="2715768" y="3090672"/>
            <a:ext cx="1691640" cy="274320"/>
          </a:xfrm>
          <a:prstGeom prst="rect">
            <a:avLst/>
          </a:prstGeom>
          <a:noFill/>
          <a:ln/>
        </p:spPr>
        <p:txBody>
          <a:bodyPr wrap="square" lIns="0" tIns="0" rIns="0" bIns="0" rtlCol="0" anchor="ctr"/>
          <a:lstStyle/>
          <a:p>
            <a:pPr marL="0" indent="0" algn="ctr">
              <a:buNone/>
            </a:pPr>
            <a:r>
              <a:rPr lang="en-US" sz="1300" b="1" dirty="0">
                <a:solidFill>
                  <a:schemeClr val="tx1"/>
                </a:solidFill>
              </a:rPr>
              <a:t>쑥</a:t>
            </a:r>
            <a:r>
              <a:rPr lang="en-US" sz="1300" dirty="0">
                <a:solidFill>
                  <a:srgbClr val="56653F"/>
                </a:solidFill>
              </a:rPr>
              <a:t>  艾葉</a:t>
            </a:r>
            <a:endParaRPr lang="en-US" sz="1300" dirty="0"/>
          </a:p>
        </p:txBody>
      </p:sp>
      <p:sp>
        <p:nvSpPr>
          <p:cNvPr id="14" name="Text 10"/>
          <p:cNvSpPr txBox="1"/>
          <p:nvPr/>
        </p:nvSpPr>
        <p:spPr>
          <a:xfrm>
            <a:off x="2743200" y="3456432"/>
            <a:ext cx="1636776" cy="566928"/>
          </a:xfrm>
          <a:prstGeom prst="rect">
            <a:avLst/>
          </a:prstGeom>
          <a:noFill/>
          <a:ln/>
        </p:spPr>
        <p:txBody>
          <a:bodyPr wrap="square" lIns="0" tIns="0" rIns="0" bIns="0" rtlCol="0" anchor="t"/>
          <a:lstStyle/>
          <a:p>
            <a:pPr marL="0" indent="0" algn="ctr">
              <a:buNone/>
            </a:pPr>
            <a:r>
              <a:rPr lang="en-US" sz="1100" dirty="0">
                <a:solidFill>
                  <a:schemeClr val="tx2"/>
                </a:solidFill>
              </a:rPr>
              <a:t>예민해진 피부를 차분하게 다독이는 진정 케어</a:t>
            </a:r>
            <a:endParaRPr lang="en-US" sz="1100" dirty="0"/>
          </a:p>
        </p:txBody>
      </p:sp>
      <p:sp>
        <p:nvSpPr>
          <p:cNvPr id="15" name="Set 진정 라인"/>
          <p:cNvSpPr/>
          <p:nvPr/>
        </p:nvSpPr>
        <p:spPr>
          <a:xfrm>
            <a:off x="2743200" y="4160520"/>
            <a:ext cx="1636776" cy="347472"/>
          </a:xfrm>
          <a:prstGeom prst="roundRect">
            <a:avLst>
              <a:gd name="adj" fmla="val 39474"/>
            </a:avLst>
          </a:prstGeom>
          <a:solidFill>
            <a:schemeClr val="bg2"/>
          </a:solidFill>
          <a:ln/>
        </p:spPr>
        <p:txBody>
          <a:bodyPr wrap="square" lIns="0" tIns="0" rIns="0" bIns="0" rtlCol="0" anchor="ctr"/>
          <a:lstStyle/>
          <a:p>
            <a:pPr marL="0" indent="0" algn="ctr">
              <a:buNone/>
            </a:pPr>
            <a:r>
              <a:rPr lang="en-US" sz="1100" b="1" dirty="0">
                <a:solidFill>
                  <a:srgbClr val="56653F"/>
                </a:solidFill>
              </a:rPr>
              <a:t>진정 토너 · 수딩 젤</a:t>
            </a:r>
            <a:endParaRPr lang="en-US" sz="1100" dirty="0"/>
          </a:p>
        </p:txBody>
      </p:sp>
      <p:sp>
        <p:nvSpPr>
          <p:cNvPr id="16" name="Line card 모공 라인"/>
          <p:cNvSpPr/>
          <p:nvPr/>
        </p:nvSpPr>
        <p:spPr>
          <a:xfrm>
            <a:off x="4700016" y="1325880"/>
            <a:ext cx="1965960" cy="3383280"/>
          </a:xfrm>
          <a:prstGeom prst="roundRect">
            <a:avLst>
              <a:gd name="adj" fmla="val 5581"/>
            </a:avLst>
          </a:prstGeom>
          <a:solidFill>
            <a:schemeClr val="bg1"/>
          </a:solidFill>
          <a:ln w="12700">
            <a:solidFill>
              <a:srgbClr val="E2D6C4"/>
            </a:solidFill>
            <a:prstDash val="solid"/>
          </a:ln>
          <a:effectLst>
            <a:outerShdw blurRad="76200" dist="25400" dir="5400000" algn="bl" rotWithShape="0">
              <a:srgbClr val="000000">
                <a:alpha val="10000"/>
              </a:srgbClr>
            </a:outerShdw>
          </a:effectLst>
        </p:spPr>
      </p:sp>
      <p:pic>
        <p:nvPicPr>
          <p:cNvPr id="17" name="Herb 어성초" descr="어성초 일러스트"/>
          <p:cNvPicPr>
            <a:picLocks noChangeAspect="1"/>
          </p:cNvPicPr>
          <p:nvPr/>
        </p:nvPicPr>
        <p:blipFill>
          <a:blip r:embed="rId5"/>
          <a:stretch>
            <a:fillRect/>
          </a:stretch>
        </p:blipFill>
        <p:spPr>
          <a:xfrm>
            <a:off x="5111496" y="1463040"/>
            <a:ext cx="1143000" cy="1143000"/>
          </a:xfrm>
          <a:prstGeom prst="rect">
            <a:avLst/>
          </a:prstGeom>
        </p:spPr>
      </p:pic>
      <p:sp>
        <p:nvSpPr>
          <p:cNvPr id="18" name="Text 13"/>
          <p:cNvSpPr txBox="1"/>
          <p:nvPr/>
        </p:nvSpPr>
        <p:spPr>
          <a:xfrm>
            <a:off x="4837176" y="2724912"/>
            <a:ext cx="1691640" cy="365760"/>
          </a:xfrm>
          <a:prstGeom prst="rect">
            <a:avLst/>
          </a:prstGeom>
          <a:noFill/>
          <a:ln/>
        </p:spPr>
        <p:txBody>
          <a:bodyPr wrap="square" lIns="0" tIns="0" rIns="0" bIns="0" rtlCol="0" anchor="ctr"/>
          <a:lstStyle/>
          <a:p>
            <a:pPr marL="0" indent="0" algn="ctr">
              <a:buNone/>
            </a:pPr>
            <a:r>
              <a:rPr lang="en-US" sz="1800" b="1" dirty="0">
                <a:solidFill>
                  <a:srgbClr val="3F6B5A"/>
                </a:solidFill>
              </a:rPr>
              <a:t>모공 라인</a:t>
            </a:r>
            <a:endParaRPr lang="en-US" sz="1800" dirty="0"/>
          </a:p>
        </p:txBody>
      </p:sp>
      <p:sp>
        <p:nvSpPr>
          <p:cNvPr id="19" name="Text 14"/>
          <p:cNvSpPr txBox="1"/>
          <p:nvPr/>
        </p:nvSpPr>
        <p:spPr>
          <a:xfrm>
            <a:off x="4837176" y="3090672"/>
            <a:ext cx="1691640" cy="274320"/>
          </a:xfrm>
          <a:prstGeom prst="rect">
            <a:avLst/>
          </a:prstGeom>
          <a:noFill/>
          <a:ln/>
        </p:spPr>
        <p:txBody>
          <a:bodyPr wrap="square" lIns="0" tIns="0" rIns="0" bIns="0" rtlCol="0" anchor="ctr"/>
          <a:lstStyle/>
          <a:p>
            <a:pPr marL="0" indent="0" algn="ctr">
              <a:buNone/>
            </a:pPr>
            <a:r>
              <a:rPr lang="en-US" sz="1300" b="1" dirty="0">
                <a:solidFill>
                  <a:schemeClr val="tx1"/>
                </a:solidFill>
              </a:rPr>
              <a:t>어성초</a:t>
            </a:r>
            <a:r>
              <a:rPr lang="en-US" sz="1300" dirty="0">
                <a:solidFill>
                  <a:srgbClr val="3F6B5A"/>
                </a:solidFill>
              </a:rPr>
              <a:t>  魚腥草</a:t>
            </a:r>
            <a:endParaRPr lang="en-US" sz="1300" dirty="0"/>
          </a:p>
        </p:txBody>
      </p:sp>
      <p:sp>
        <p:nvSpPr>
          <p:cNvPr id="20" name="Text 15"/>
          <p:cNvSpPr txBox="1"/>
          <p:nvPr/>
        </p:nvSpPr>
        <p:spPr>
          <a:xfrm>
            <a:off x="4864608" y="3456432"/>
            <a:ext cx="1636776" cy="566928"/>
          </a:xfrm>
          <a:prstGeom prst="rect">
            <a:avLst/>
          </a:prstGeom>
          <a:noFill/>
          <a:ln/>
        </p:spPr>
        <p:txBody>
          <a:bodyPr wrap="square" lIns="0" tIns="0" rIns="0" bIns="0" rtlCol="0" anchor="t"/>
          <a:lstStyle/>
          <a:p>
            <a:pPr marL="0" indent="0" algn="ctr">
              <a:buNone/>
            </a:pPr>
            <a:r>
              <a:rPr lang="en-US" sz="1100" dirty="0">
                <a:solidFill>
                  <a:schemeClr val="tx2"/>
                </a:solidFill>
              </a:rPr>
              <a:t>번들거림과 모공 고민을 산뜻하게 정돈</a:t>
            </a:r>
            <a:endParaRPr lang="en-US" sz="1100" dirty="0"/>
          </a:p>
        </p:txBody>
      </p:sp>
      <p:sp>
        <p:nvSpPr>
          <p:cNvPr id="21" name="Set 모공 라인"/>
          <p:cNvSpPr/>
          <p:nvPr/>
        </p:nvSpPr>
        <p:spPr>
          <a:xfrm>
            <a:off x="4864608" y="4160520"/>
            <a:ext cx="1636776" cy="347472"/>
          </a:xfrm>
          <a:prstGeom prst="roundRect">
            <a:avLst>
              <a:gd name="adj" fmla="val 39474"/>
            </a:avLst>
          </a:prstGeom>
          <a:solidFill>
            <a:schemeClr val="bg2"/>
          </a:solidFill>
          <a:ln/>
        </p:spPr>
        <p:txBody>
          <a:bodyPr wrap="square" lIns="0" tIns="0" rIns="0" bIns="0" rtlCol="0" anchor="ctr"/>
          <a:lstStyle/>
          <a:p>
            <a:pPr marL="0" indent="0" algn="ctr">
              <a:buNone/>
            </a:pPr>
            <a:r>
              <a:rPr lang="en-US" sz="1100" b="1" dirty="0">
                <a:solidFill>
                  <a:srgbClr val="3F6B5A"/>
                </a:solidFill>
              </a:rPr>
              <a:t>클렌저 · 모공 세럼</a:t>
            </a:r>
            <a:endParaRPr lang="en-US" sz="1100" dirty="0"/>
          </a:p>
        </p:txBody>
      </p:sp>
      <p:sp>
        <p:nvSpPr>
          <p:cNvPr id="22" name="Line card 탄력 라인"/>
          <p:cNvSpPr/>
          <p:nvPr/>
        </p:nvSpPr>
        <p:spPr>
          <a:xfrm>
            <a:off x="6821424" y="1325880"/>
            <a:ext cx="1965960" cy="3383280"/>
          </a:xfrm>
          <a:prstGeom prst="roundRect">
            <a:avLst>
              <a:gd name="adj" fmla="val 5581"/>
            </a:avLst>
          </a:prstGeom>
          <a:solidFill>
            <a:schemeClr val="bg1"/>
          </a:solidFill>
          <a:ln w="12700">
            <a:solidFill>
              <a:srgbClr val="E2D6C4"/>
            </a:solidFill>
            <a:prstDash val="solid"/>
          </a:ln>
          <a:effectLst>
            <a:outerShdw blurRad="76200" dist="25400" dir="5400000" algn="bl" rotWithShape="0">
              <a:srgbClr val="000000">
                <a:alpha val="10000"/>
              </a:srgbClr>
            </a:outerShdw>
          </a:effectLst>
        </p:spPr>
      </p:sp>
      <p:pic>
        <p:nvPicPr>
          <p:cNvPr id="23" name="Herb 인삼" descr="인삼 일러스트"/>
          <p:cNvPicPr>
            <a:picLocks noChangeAspect="1"/>
          </p:cNvPicPr>
          <p:nvPr/>
        </p:nvPicPr>
        <p:blipFill>
          <a:blip r:embed="rId6"/>
          <a:stretch>
            <a:fillRect/>
          </a:stretch>
        </p:blipFill>
        <p:spPr>
          <a:xfrm>
            <a:off x="7232904" y="1463040"/>
            <a:ext cx="1143000" cy="1143000"/>
          </a:xfrm>
          <a:prstGeom prst="rect">
            <a:avLst/>
          </a:prstGeom>
        </p:spPr>
      </p:pic>
      <p:sp>
        <p:nvSpPr>
          <p:cNvPr id="24" name="Text 18"/>
          <p:cNvSpPr txBox="1"/>
          <p:nvPr/>
        </p:nvSpPr>
        <p:spPr>
          <a:xfrm>
            <a:off x="6958584" y="2724912"/>
            <a:ext cx="1691640" cy="365760"/>
          </a:xfrm>
          <a:prstGeom prst="rect">
            <a:avLst/>
          </a:prstGeom>
          <a:noFill/>
          <a:ln/>
        </p:spPr>
        <p:txBody>
          <a:bodyPr wrap="square" lIns="0" tIns="0" rIns="0" bIns="0" rtlCol="0" anchor="ctr"/>
          <a:lstStyle/>
          <a:p>
            <a:pPr marL="0" indent="0" algn="ctr">
              <a:buNone/>
            </a:pPr>
            <a:r>
              <a:rPr lang="en-US" sz="1800" b="1" dirty="0">
                <a:solidFill>
                  <a:srgbClr val="9A4F33"/>
                </a:solidFill>
              </a:rPr>
              <a:t>탄력 라인</a:t>
            </a:r>
            <a:endParaRPr lang="en-US" sz="1800" dirty="0"/>
          </a:p>
        </p:txBody>
      </p:sp>
      <p:sp>
        <p:nvSpPr>
          <p:cNvPr id="25" name="Text 19"/>
          <p:cNvSpPr txBox="1"/>
          <p:nvPr/>
        </p:nvSpPr>
        <p:spPr>
          <a:xfrm>
            <a:off x="6958584" y="3090672"/>
            <a:ext cx="1691640" cy="274320"/>
          </a:xfrm>
          <a:prstGeom prst="rect">
            <a:avLst/>
          </a:prstGeom>
          <a:noFill/>
          <a:ln/>
        </p:spPr>
        <p:txBody>
          <a:bodyPr wrap="square" lIns="0" tIns="0" rIns="0" bIns="0" rtlCol="0" anchor="ctr"/>
          <a:lstStyle/>
          <a:p>
            <a:pPr marL="0" indent="0" algn="ctr">
              <a:buNone/>
            </a:pPr>
            <a:r>
              <a:rPr lang="en-US" sz="1300" b="1" dirty="0">
                <a:solidFill>
                  <a:schemeClr val="tx1"/>
                </a:solidFill>
              </a:rPr>
              <a:t>인삼</a:t>
            </a:r>
            <a:r>
              <a:rPr lang="en-US" sz="1300" dirty="0">
                <a:solidFill>
                  <a:srgbClr val="9A4F33"/>
                </a:solidFill>
              </a:rPr>
              <a:t>  人蔘</a:t>
            </a:r>
            <a:endParaRPr lang="en-US" sz="1300" dirty="0"/>
          </a:p>
        </p:txBody>
      </p:sp>
      <p:sp>
        <p:nvSpPr>
          <p:cNvPr id="26" name="Text 20"/>
          <p:cNvSpPr txBox="1"/>
          <p:nvPr/>
        </p:nvSpPr>
        <p:spPr>
          <a:xfrm>
            <a:off x="6986016" y="3456432"/>
            <a:ext cx="1636776" cy="566928"/>
          </a:xfrm>
          <a:prstGeom prst="rect">
            <a:avLst/>
          </a:prstGeom>
          <a:noFill/>
          <a:ln/>
        </p:spPr>
        <p:txBody>
          <a:bodyPr wrap="square" lIns="0" tIns="0" rIns="0" bIns="0" rtlCol="0" anchor="t"/>
          <a:lstStyle/>
          <a:p>
            <a:pPr marL="0" indent="0" algn="ctr">
              <a:buNone/>
            </a:pPr>
            <a:r>
              <a:rPr lang="en-US" sz="1100" dirty="0">
                <a:solidFill>
                  <a:schemeClr val="tx2"/>
                </a:solidFill>
              </a:rPr>
              <a:t>지친 피부에 영양과 탄력을 채우는 마무리</a:t>
            </a:r>
            <a:endParaRPr lang="en-US" sz="1100" dirty="0"/>
          </a:p>
        </p:txBody>
      </p:sp>
      <p:sp>
        <p:nvSpPr>
          <p:cNvPr id="27" name="Set 탄력 라인"/>
          <p:cNvSpPr/>
          <p:nvPr/>
        </p:nvSpPr>
        <p:spPr>
          <a:xfrm>
            <a:off x="6986016" y="4160520"/>
            <a:ext cx="1636776" cy="347472"/>
          </a:xfrm>
          <a:prstGeom prst="roundRect">
            <a:avLst>
              <a:gd name="adj" fmla="val 39474"/>
            </a:avLst>
          </a:prstGeom>
          <a:solidFill>
            <a:schemeClr val="bg2"/>
          </a:solidFill>
          <a:ln/>
        </p:spPr>
        <p:txBody>
          <a:bodyPr wrap="square" lIns="0" tIns="0" rIns="0" bIns="0" rtlCol="0" anchor="ctr"/>
          <a:lstStyle/>
          <a:p>
            <a:pPr marL="0" indent="0" algn="ctr">
              <a:buNone/>
            </a:pPr>
            <a:r>
              <a:rPr lang="en-US" sz="1100" b="1" dirty="0">
                <a:solidFill>
                  <a:srgbClr val="9A4F33"/>
                </a:solidFill>
              </a:rPr>
              <a:t>영양 크림 · 앰플</a:t>
            </a:r>
            <a:endParaRPr lang="en-US" sz="1100" dirty="0"/>
          </a:p>
        </p:txBody>
      </p:sp>
    </p:spTree>
    <p:extLst>
      <p:ext uri="{BB962C8B-B14F-4D97-AF65-F5344CB8AC3E}">
        <p14:creationId xmlns:p14="http://schemas.microsoft.com/office/powerpoint/2010/main" val="3718812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229600" cy="274320"/>
          </a:xfrm>
          <a:prstGeom prst="rect">
            <a:avLst/>
          </a:prstGeom>
          <a:noFill/>
          <a:ln/>
        </p:spPr>
        <p:txBody>
          <a:bodyPr wrap="square" lIns="0" tIns="0" rIns="0" bIns="0" rtlCol="0"/>
          <a:lstStyle/>
          <a:p>
            <a:pPr marL="0" indent="0">
              <a:buNone/>
            </a:pPr>
            <a:r>
              <a:rPr lang="en-US" sz="1100" b="1" kern="0" spc="200" dirty="0">
                <a:solidFill>
                  <a:schemeClr val="accent1"/>
                </a:solidFill>
              </a:rPr>
              <a:t>06  지역 연계</a:t>
            </a:r>
            <a:endParaRPr lang="en-US" sz="1100" dirty="0"/>
          </a:p>
        </p:txBody>
      </p:sp>
      <p:sp>
        <p:nvSpPr>
          <p:cNvPr id="3" name="Text 0"/>
          <p:cNvSpPr>
            <a:spLocks noGrp="1"/>
          </p:cNvSpPr>
          <p:nvPr>
            <p:ph type="title" idx="101" hasCustomPrompt="1"/>
          </p:nvPr>
        </p:nvSpPr>
        <p:spPr>
          <a:xfrm>
            <a:off x="457200" y="548640"/>
            <a:ext cx="8229600" cy="594360"/>
          </a:xfrm>
          <a:prstGeom prst="rect">
            <a:avLst/>
          </a:prstGeom>
          <a:noFill/>
          <a:ln/>
        </p:spPr>
        <p:txBody>
          <a:bodyPr wrap="square" lIns="0" tIns="0" rIns="0" bIns="0" rtlCol="0" anchor="t"/>
          <a:lstStyle/>
          <a:p>
            <a:pPr marL="0" indent="0" algn="l">
              <a:buNone/>
            </a:pPr>
            <a:r>
              <a:rPr lang="en-US" sz="2600" b="1" dirty="0">
                <a:solidFill>
                  <a:schemeClr val="bg2"/>
                </a:solidFill>
              </a:rPr>
              <a:t>약전골목에 한방뷰티 팝업이 열리다</a:t>
            </a:r>
            <a:endParaRPr lang="en-US" sz="2600" dirty="0"/>
          </a:p>
        </p:txBody>
      </p:sp>
      <p:pic>
        <p:nvPicPr>
          <p:cNvPr id="4" name="Popup street scene" descr="약전골목 한약방과 약초상회 사이에 문을 연 한방뷰티 팝업스토어 일러스트"/>
          <p:cNvPicPr>
            <a:picLocks noChangeAspect="1"/>
          </p:cNvPicPr>
          <p:nvPr/>
        </p:nvPicPr>
        <p:blipFill>
          <a:blip r:embed="rId3"/>
          <a:stretch>
            <a:fillRect/>
          </a:stretch>
        </p:blipFill>
        <p:spPr>
          <a:xfrm>
            <a:off x="457200" y="1325880"/>
            <a:ext cx="5394960" cy="3236976"/>
          </a:xfrm>
          <a:prstGeom prst="rect">
            <a:avLst/>
          </a:prstGeom>
        </p:spPr>
      </p:pic>
      <p:sp>
        <p:nvSpPr>
          <p:cNvPr id="5" name="Program num 1"/>
          <p:cNvSpPr/>
          <p:nvPr/>
        </p:nvSpPr>
        <p:spPr>
          <a:xfrm>
            <a:off x="6172200" y="1371600"/>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6" name="Text 3"/>
          <p:cNvSpPr txBox="1"/>
          <p:nvPr/>
        </p:nvSpPr>
        <p:spPr>
          <a:xfrm>
            <a:off x="6675120" y="1389888"/>
            <a:ext cx="2103120" cy="320040"/>
          </a:xfrm>
          <a:prstGeom prst="rect">
            <a:avLst/>
          </a:prstGeom>
          <a:noFill/>
          <a:ln/>
        </p:spPr>
        <p:txBody>
          <a:bodyPr wrap="square" lIns="0" tIns="0" rIns="0" bIns="0" rtlCol="0" anchor="ctr"/>
          <a:lstStyle/>
          <a:p>
            <a:pPr marL="0" indent="0">
              <a:buNone/>
            </a:pPr>
            <a:r>
              <a:rPr lang="en-US" sz="1400" b="1" dirty="0">
                <a:solidFill>
                  <a:schemeClr val="bg2"/>
                </a:solidFill>
              </a:rPr>
              <a:t>원료 체험존</a:t>
            </a:r>
            <a:endParaRPr lang="en-US" sz="1400" dirty="0"/>
          </a:p>
        </p:txBody>
      </p:sp>
      <p:sp>
        <p:nvSpPr>
          <p:cNvPr id="7" name="Text 4"/>
          <p:cNvSpPr txBox="1"/>
          <p:nvPr/>
        </p:nvSpPr>
        <p:spPr>
          <a:xfrm>
            <a:off x="6675120" y="1719072"/>
            <a:ext cx="2103120" cy="548640"/>
          </a:xfrm>
          <a:prstGeom prst="rect">
            <a:avLst/>
          </a:prstGeom>
          <a:noFill/>
          <a:ln/>
        </p:spPr>
        <p:txBody>
          <a:bodyPr wrap="square" lIns="0" tIns="0" rIns="0" bIns="0" rtlCol="0" anchor="t"/>
          <a:lstStyle/>
          <a:p>
            <a:pPr marL="0" indent="0">
              <a:buNone/>
            </a:pPr>
            <a:r>
              <a:rPr lang="en-US" sz="1100" dirty="0">
                <a:solidFill>
                  <a:schemeClr val="accent4"/>
                </a:solidFill>
              </a:rPr>
              <a:t>약재 서랍장에서 당귀·쑥·어성초·인삼을 직접 보고 향 맡기</a:t>
            </a:r>
            <a:endParaRPr lang="en-US" sz="1100" dirty="0"/>
          </a:p>
        </p:txBody>
      </p:sp>
      <p:sp>
        <p:nvSpPr>
          <p:cNvPr id="8" name="Program num 2"/>
          <p:cNvSpPr/>
          <p:nvPr/>
        </p:nvSpPr>
        <p:spPr>
          <a:xfrm>
            <a:off x="6172200" y="2286000"/>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9" name="Text 6"/>
          <p:cNvSpPr txBox="1"/>
          <p:nvPr/>
        </p:nvSpPr>
        <p:spPr>
          <a:xfrm>
            <a:off x="6675120" y="2304288"/>
            <a:ext cx="2103120" cy="320040"/>
          </a:xfrm>
          <a:prstGeom prst="rect">
            <a:avLst/>
          </a:prstGeom>
          <a:noFill/>
          <a:ln/>
        </p:spPr>
        <p:txBody>
          <a:bodyPr wrap="square" lIns="0" tIns="0" rIns="0" bIns="0" rtlCol="0" anchor="ctr"/>
          <a:lstStyle/>
          <a:p>
            <a:pPr marL="0" indent="0">
              <a:buNone/>
            </a:pPr>
            <a:r>
              <a:rPr lang="en-US" sz="1400" b="1" dirty="0">
                <a:solidFill>
                  <a:schemeClr val="bg2"/>
                </a:solidFill>
              </a:rPr>
              <a:t>라인 추천 · 루틴 체험</a:t>
            </a:r>
            <a:endParaRPr lang="en-US" sz="1400" dirty="0"/>
          </a:p>
        </p:txBody>
      </p:sp>
      <p:sp>
        <p:nvSpPr>
          <p:cNvPr id="10" name="Text 7"/>
          <p:cNvSpPr txBox="1"/>
          <p:nvPr/>
        </p:nvSpPr>
        <p:spPr>
          <a:xfrm>
            <a:off x="6675120" y="2633472"/>
            <a:ext cx="2103120" cy="548640"/>
          </a:xfrm>
          <a:prstGeom prst="rect">
            <a:avLst/>
          </a:prstGeom>
          <a:noFill/>
          <a:ln/>
        </p:spPr>
        <p:txBody>
          <a:bodyPr wrap="square" lIns="0" tIns="0" rIns="0" bIns="0" rtlCol="0" anchor="t"/>
          <a:lstStyle/>
          <a:p>
            <a:pPr marL="0" indent="0">
              <a:buNone/>
            </a:pPr>
            <a:r>
              <a:rPr lang="en-US" sz="1100" dirty="0">
                <a:solidFill>
                  <a:schemeClr val="accent4"/>
                </a:solidFill>
              </a:rPr>
              <a:t>피부 고민에 맞춰 수분·진정·모공·탄력 라인 추천</a:t>
            </a:r>
            <a:endParaRPr lang="en-US" sz="1100" dirty="0"/>
          </a:p>
        </p:txBody>
      </p:sp>
      <p:sp>
        <p:nvSpPr>
          <p:cNvPr id="11" name="Program num 3"/>
          <p:cNvSpPr/>
          <p:nvPr/>
        </p:nvSpPr>
        <p:spPr>
          <a:xfrm>
            <a:off x="6172200" y="3200400"/>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2" name="Text 9"/>
          <p:cNvSpPr txBox="1"/>
          <p:nvPr/>
        </p:nvSpPr>
        <p:spPr>
          <a:xfrm>
            <a:off x="6675120" y="3218688"/>
            <a:ext cx="2103120" cy="320040"/>
          </a:xfrm>
          <a:prstGeom prst="rect">
            <a:avLst/>
          </a:prstGeom>
          <a:noFill/>
          <a:ln/>
        </p:spPr>
        <p:txBody>
          <a:bodyPr wrap="square" lIns="0" tIns="0" rIns="0" bIns="0" rtlCol="0" anchor="ctr"/>
          <a:lstStyle/>
          <a:p>
            <a:pPr marL="0" indent="0">
              <a:buNone/>
            </a:pPr>
            <a:r>
              <a:rPr lang="en-US" sz="1400" b="1" dirty="0">
                <a:solidFill>
                  <a:schemeClr val="bg2"/>
                </a:solidFill>
              </a:rPr>
              <a:t>기획전 · 숏폼 촬영존</a:t>
            </a:r>
            <a:endParaRPr lang="en-US" sz="1400" dirty="0"/>
          </a:p>
        </p:txBody>
      </p:sp>
      <p:sp>
        <p:nvSpPr>
          <p:cNvPr id="13" name="Text 10"/>
          <p:cNvSpPr txBox="1"/>
          <p:nvPr/>
        </p:nvSpPr>
        <p:spPr>
          <a:xfrm>
            <a:off x="6675120" y="3547872"/>
            <a:ext cx="2103120" cy="548640"/>
          </a:xfrm>
          <a:prstGeom prst="rect">
            <a:avLst/>
          </a:prstGeom>
          <a:noFill/>
          <a:ln/>
        </p:spPr>
        <p:txBody>
          <a:bodyPr wrap="square" lIns="0" tIns="0" rIns="0" bIns="0" rtlCol="0" anchor="t"/>
          <a:lstStyle/>
          <a:p>
            <a:pPr marL="0" indent="0">
              <a:buNone/>
            </a:pPr>
            <a:r>
              <a:rPr lang="en-US" sz="1100" dirty="0">
                <a:solidFill>
                  <a:schemeClr val="accent4"/>
                </a:solidFill>
              </a:rPr>
              <a:t>오픈 기념 기획전과 골목 배경 SNS 인증 콘텐츠</a:t>
            </a:r>
            <a:endParaRPr lang="en-US" sz="1100" dirty="0"/>
          </a:p>
        </p:txBody>
      </p:sp>
      <p:sp>
        <p:nvSpPr>
          <p:cNvPr id="14" name="Location chip"/>
          <p:cNvSpPr/>
          <p:nvPr/>
        </p:nvSpPr>
        <p:spPr>
          <a:xfrm>
            <a:off x="6172200" y="4242816"/>
            <a:ext cx="2606040"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marL="0" indent="0" algn="ctr">
              <a:buNone/>
            </a:pPr>
            <a:r>
              <a:rPr lang="en-US" sz="1100" b="1" dirty="0">
                <a:solidFill>
                  <a:schemeClr val="accent1"/>
                </a:solidFill>
              </a:rPr>
              <a:t>대구 중구 약전골목 일대  ·  [일정]</a:t>
            </a:r>
            <a:endParaRPr lang="en-US" sz="1100" dirty="0"/>
          </a:p>
        </p:txBody>
      </p:sp>
    </p:spTree>
    <p:extLst>
      <p:ext uri="{BB962C8B-B14F-4D97-AF65-F5344CB8AC3E}">
        <p14:creationId xmlns:p14="http://schemas.microsoft.com/office/powerpoint/2010/main" val="2671951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92608"/>
            <a:ext cx="8229600" cy="274320"/>
          </a:xfrm>
          <a:prstGeom prst="rect">
            <a:avLst/>
          </a:prstGeom>
          <a:noFill/>
          <a:ln/>
        </p:spPr>
        <p:txBody>
          <a:bodyPr wrap="square" lIns="0" tIns="0" rIns="0" bIns="0" rtlCol="0"/>
          <a:lstStyle/>
          <a:p>
            <a:pPr marL="0" indent="0">
              <a:buNone/>
            </a:pPr>
            <a:r>
              <a:rPr lang="en-US" sz="1100" b="1" kern="0" spc="200" dirty="0">
                <a:solidFill>
                  <a:schemeClr val="accent1"/>
                </a:solidFill>
              </a:rPr>
              <a:t>04  목표 방향</a:t>
            </a:r>
            <a:endParaRPr lang="en-US" sz="1100" dirty="0"/>
          </a:p>
        </p:txBody>
      </p:sp>
      <p:sp>
        <p:nvSpPr>
          <p:cNvPr id="3" name="Text 0"/>
          <p:cNvSpPr>
            <a:spLocks noGrp="1"/>
          </p:cNvSpPr>
          <p:nvPr>
            <p:ph type="title" idx="101" hasCustomPrompt="1"/>
          </p:nvPr>
        </p:nvSpPr>
        <p:spPr>
          <a:xfrm>
            <a:off x="457200" y="548640"/>
            <a:ext cx="8229600" cy="594360"/>
          </a:xfrm>
          <a:prstGeom prst="rect">
            <a:avLst/>
          </a:prstGeom>
          <a:noFill/>
          <a:ln/>
        </p:spPr>
        <p:txBody>
          <a:bodyPr wrap="square" lIns="0" tIns="0" rIns="0" bIns="0" rtlCol="0" anchor="t"/>
          <a:lstStyle/>
          <a:p>
            <a:pPr marL="0" indent="0" algn="l">
              <a:buNone/>
            </a:pPr>
            <a:r>
              <a:rPr lang="en-US" sz="2600" b="1" dirty="0">
                <a:solidFill>
                  <a:schemeClr val="bg2"/>
                </a:solidFill>
              </a:rPr>
              <a:t>브랜드를 만들고, 골목으로 데려간다</a:t>
            </a:r>
            <a:endParaRPr lang="en-US" sz="2600" dirty="0"/>
          </a:p>
        </p:txBody>
      </p:sp>
      <p:sp>
        <p:nvSpPr>
          <p:cNvPr id="4" name="Goal card 1"/>
          <p:cNvSpPr/>
          <p:nvPr/>
        </p:nvSpPr>
        <p:spPr>
          <a:xfrm>
            <a:off x="457200" y="1371600"/>
            <a:ext cx="4846320" cy="1188720"/>
          </a:xfrm>
          <a:prstGeom prst="roundRect">
            <a:avLst>
              <a:gd name="adj" fmla="val 7692"/>
            </a:avLst>
          </a:prstGeom>
          <a:solidFill>
            <a:schemeClr val="bg2"/>
          </a:solidFill>
          <a:ln/>
        </p:spPr>
      </p:sp>
      <p:sp>
        <p:nvSpPr>
          <p:cNvPr id="5" name="Goal dot 1"/>
          <p:cNvSpPr/>
          <p:nvPr/>
        </p:nvSpPr>
        <p:spPr>
          <a:xfrm>
            <a:off x="685800" y="1691640"/>
            <a:ext cx="548640" cy="548640"/>
          </a:xfrm>
          <a:prstGeom prst="ellipse">
            <a:avLst/>
          </a:prstGeom>
          <a:solidFill>
            <a:schemeClr val="accent1"/>
          </a:solidFill>
          <a:ln/>
        </p:spPr>
      </p:sp>
      <p:pic>
        <p:nvPicPr>
          <p:cNvPr id="6" name="Goal icon 1" descr="preencoded.png"/>
          <p:cNvPicPr>
            <a:picLocks noChangeAspect="1"/>
          </p:cNvPicPr>
          <p:nvPr/>
        </p:nvPicPr>
        <p:blipFill>
          <a:blip r:embed="rId3"/>
          <a:stretch>
            <a:fillRect/>
          </a:stretch>
        </p:blipFill>
        <p:spPr>
          <a:xfrm>
            <a:off x="822960" y="1828800"/>
            <a:ext cx="274320" cy="274320"/>
          </a:xfrm>
          <a:prstGeom prst="rect">
            <a:avLst/>
          </a:prstGeom>
        </p:spPr>
      </p:pic>
      <p:sp>
        <p:nvSpPr>
          <p:cNvPr id="7" name="Text 4"/>
          <p:cNvSpPr txBox="1"/>
          <p:nvPr/>
        </p:nvSpPr>
        <p:spPr>
          <a:xfrm>
            <a:off x="1463040" y="1508760"/>
            <a:ext cx="3657600" cy="256032"/>
          </a:xfrm>
          <a:prstGeom prst="rect">
            <a:avLst/>
          </a:prstGeom>
          <a:noFill/>
          <a:ln/>
        </p:spPr>
        <p:txBody>
          <a:bodyPr wrap="square" lIns="0" tIns="0" rIns="0" bIns="0" rtlCol="0" anchor="ctr"/>
          <a:lstStyle/>
          <a:p>
            <a:pPr marL="0" indent="0">
              <a:buNone/>
            </a:pPr>
            <a:r>
              <a:rPr lang="en-US" sz="1100" b="1" kern="0" spc="100" dirty="0">
                <a:solidFill>
                  <a:schemeClr val="accent3"/>
                </a:solidFill>
              </a:rPr>
              <a:t>STEP 1  ·  방향 A</a:t>
            </a:r>
            <a:endParaRPr lang="en-US" sz="1100" dirty="0"/>
          </a:p>
        </p:txBody>
      </p:sp>
      <p:sp>
        <p:nvSpPr>
          <p:cNvPr id="8" name="Text 5"/>
          <p:cNvSpPr txBox="1"/>
          <p:nvPr/>
        </p:nvSpPr>
        <p:spPr>
          <a:xfrm>
            <a:off x="1463040" y="1764792"/>
            <a:ext cx="3657600" cy="320040"/>
          </a:xfrm>
          <a:prstGeom prst="rect">
            <a:avLst/>
          </a:prstGeom>
          <a:noFill/>
          <a:ln/>
        </p:spPr>
        <p:txBody>
          <a:bodyPr wrap="square" lIns="0" tIns="0" rIns="0" bIns="0" rtlCol="0" anchor="ctr"/>
          <a:lstStyle/>
          <a:p>
            <a:pPr marL="0" indent="0">
              <a:buNone/>
            </a:pPr>
            <a:r>
              <a:rPr lang="en-US" sz="1500" b="1" dirty="0">
                <a:solidFill>
                  <a:schemeClr val="tx1"/>
                </a:solidFill>
              </a:rPr>
              <a:t>브랜드 기초 마케팅·홍보 라인 에이전트</a:t>
            </a:r>
            <a:endParaRPr lang="en-US" sz="1500" dirty="0"/>
          </a:p>
        </p:txBody>
      </p:sp>
      <p:sp>
        <p:nvSpPr>
          <p:cNvPr id="9" name="Text 6"/>
          <p:cNvSpPr txBox="1"/>
          <p:nvPr/>
        </p:nvSpPr>
        <p:spPr>
          <a:xfrm>
            <a:off x="1463040" y="2103120"/>
            <a:ext cx="3657600" cy="320040"/>
          </a:xfrm>
          <a:prstGeom prst="rect">
            <a:avLst/>
          </a:prstGeom>
          <a:noFill/>
          <a:ln/>
        </p:spPr>
        <p:txBody>
          <a:bodyPr wrap="square" lIns="0" tIns="0" rIns="0" bIns="0" rtlCol="0" anchor="ctr"/>
          <a:lstStyle/>
          <a:p>
            <a:pPr marL="0" indent="0">
              <a:buNone/>
            </a:pPr>
            <a:r>
              <a:rPr lang="en-US" sz="1200" dirty="0">
                <a:solidFill>
                  <a:schemeClr val="tx2"/>
                </a:solidFill>
              </a:rPr>
              <a:t>브랜드 페르소나 · 메시지 · 콘텐츠 · 캠페인 생성</a:t>
            </a:r>
            <a:endParaRPr lang="en-US" sz="1200" dirty="0"/>
          </a:p>
        </p:txBody>
      </p:sp>
      <p:sp>
        <p:nvSpPr>
          <p:cNvPr id="10" name="Goal card 2"/>
          <p:cNvSpPr/>
          <p:nvPr/>
        </p:nvSpPr>
        <p:spPr>
          <a:xfrm>
            <a:off x="457200" y="2834640"/>
            <a:ext cx="4846320" cy="1188720"/>
          </a:xfrm>
          <a:prstGeom prst="roundRect">
            <a:avLst>
              <a:gd name="adj" fmla="val 7692"/>
            </a:avLst>
          </a:prstGeom>
          <a:solidFill>
            <a:schemeClr val="bg2"/>
          </a:solidFill>
          <a:ln/>
        </p:spPr>
      </p:sp>
      <p:sp>
        <p:nvSpPr>
          <p:cNvPr id="11" name="Goal dot 2"/>
          <p:cNvSpPr/>
          <p:nvPr/>
        </p:nvSpPr>
        <p:spPr>
          <a:xfrm>
            <a:off x="685800" y="3154680"/>
            <a:ext cx="548640" cy="548640"/>
          </a:xfrm>
          <a:prstGeom prst="ellipse">
            <a:avLst/>
          </a:prstGeom>
          <a:solidFill>
            <a:schemeClr val="accent1"/>
          </a:solidFill>
          <a:ln/>
        </p:spPr>
      </p:sp>
      <p:pic>
        <p:nvPicPr>
          <p:cNvPr id="12" name="Goal icon 2" descr="preencoded.png"/>
          <p:cNvPicPr>
            <a:picLocks noChangeAspect="1"/>
          </p:cNvPicPr>
          <p:nvPr/>
        </p:nvPicPr>
        <p:blipFill>
          <a:blip r:embed="rId4"/>
          <a:stretch>
            <a:fillRect/>
          </a:stretch>
        </p:blipFill>
        <p:spPr>
          <a:xfrm>
            <a:off x="822960" y="3291840"/>
            <a:ext cx="274320" cy="274320"/>
          </a:xfrm>
          <a:prstGeom prst="rect">
            <a:avLst/>
          </a:prstGeom>
        </p:spPr>
      </p:pic>
      <p:sp>
        <p:nvSpPr>
          <p:cNvPr id="13" name="Text 9"/>
          <p:cNvSpPr txBox="1"/>
          <p:nvPr/>
        </p:nvSpPr>
        <p:spPr>
          <a:xfrm>
            <a:off x="1463040" y="2971800"/>
            <a:ext cx="3657600" cy="256032"/>
          </a:xfrm>
          <a:prstGeom prst="rect">
            <a:avLst/>
          </a:prstGeom>
          <a:noFill/>
          <a:ln/>
        </p:spPr>
        <p:txBody>
          <a:bodyPr wrap="square" lIns="0" tIns="0" rIns="0" bIns="0" rtlCol="0" anchor="ctr"/>
          <a:lstStyle/>
          <a:p>
            <a:pPr marL="0" indent="0">
              <a:buNone/>
            </a:pPr>
            <a:r>
              <a:rPr lang="en-US" sz="1100" b="1" kern="0" spc="100" dirty="0">
                <a:solidFill>
                  <a:schemeClr val="accent3"/>
                </a:solidFill>
              </a:rPr>
              <a:t>STEP 2  ·  방향 B</a:t>
            </a:r>
            <a:endParaRPr lang="en-US" sz="1100" dirty="0"/>
          </a:p>
        </p:txBody>
      </p:sp>
      <p:sp>
        <p:nvSpPr>
          <p:cNvPr id="14" name="Text 10"/>
          <p:cNvSpPr txBox="1"/>
          <p:nvPr/>
        </p:nvSpPr>
        <p:spPr>
          <a:xfrm>
            <a:off x="1463040" y="3227832"/>
            <a:ext cx="3657600" cy="320040"/>
          </a:xfrm>
          <a:prstGeom prst="rect">
            <a:avLst/>
          </a:prstGeom>
          <a:noFill/>
          <a:ln/>
        </p:spPr>
        <p:txBody>
          <a:bodyPr wrap="square" lIns="0" tIns="0" rIns="0" bIns="0" rtlCol="0" anchor="ctr"/>
          <a:lstStyle/>
          <a:p>
            <a:pPr marL="0" indent="0">
              <a:buNone/>
            </a:pPr>
            <a:r>
              <a:rPr lang="en-US" sz="1500" b="1" dirty="0">
                <a:solidFill>
                  <a:schemeClr val="tx1"/>
                </a:solidFill>
              </a:rPr>
              <a:t>지역 연계 홍보·팝업 기획 에이전트</a:t>
            </a:r>
            <a:endParaRPr lang="en-US" sz="1500" dirty="0"/>
          </a:p>
        </p:txBody>
      </p:sp>
      <p:sp>
        <p:nvSpPr>
          <p:cNvPr id="15" name="Text 11"/>
          <p:cNvSpPr txBox="1"/>
          <p:nvPr/>
        </p:nvSpPr>
        <p:spPr>
          <a:xfrm>
            <a:off x="1463040" y="3566160"/>
            <a:ext cx="3657600" cy="320040"/>
          </a:xfrm>
          <a:prstGeom prst="rect">
            <a:avLst/>
          </a:prstGeom>
          <a:noFill/>
          <a:ln/>
        </p:spPr>
        <p:txBody>
          <a:bodyPr wrap="square" lIns="0" tIns="0" rIns="0" bIns="0" rtlCol="0" anchor="ctr"/>
          <a:lstStyle/>
          <a:p>
            <a:pPr marL="0" indent="0">
              <a:buNone/>
            </a:pPr>
            <a:r>
              <a:rPr lang="en-US" sz="1200" dirty="0">
                <a:solidFill>
                  <a:schemeClr val="tx2"/>
                </a:solidFill>
              </a:rPr>
              <a:t>약전골목 팝업스토어 구성, 지역 홍보 캠페인 기획</a:t>
            </a:r>
            <a:endParaRPr lang="en-US" sz="1200" dirty="0"/>
          </a:p>
        </p:txBody>
      </p:sp>
      <p:sp>
        <p:nvSpPr>
          <p:cNvPr id="16" name="Step arrow"/>
          <p:cNvSpPr/>
          <p:nvPr/>
        </p:nvSpPr>
        <p:spPr>
          <a:xfrm>
            <a:off x="2697480" y="2587752"/>
            <a:ext cx="365760" cy="228600"/>
          </a:xfrm>
          <a:prstGeom prst="downArrow">
            <a:avLst/>
          </a:prstGeom>
          <a:solidFill>
            <a:schemeClr val="accent1"/>
          </a:solidFill>
          <a:ln/>
        </p:spPr>
      </p:sp>
      <p:pic>
        <p:nvPicPr>
          <p:cNvPr id="17" name="Popup illustration" descr="약전골목 한방뷰티 팝업스토어 일러스트"/>
          <p:cNvPicPr>
            <a:picLocks noChangeAspect="1"/>
          </p:cNvPicPr>
          <p:nvPr/>
        </p:nvPicPr>
        <p:blipFill>
          <a:blip r:embed="rId5"/>
          <a:stretch>
            <a:fillRect/>
          </a:stretch>
        </p:blipFill>
        <p:spPr>
          <a:xfrm>
            <a:off x="5669280" y="1371600"/>
            <a:ext cx="3108960" cy="2308860"/>
          </a:xfrm>
          <a:prstGeom prst="rect">
            <a:avLst/>
          </a:prstGeom>
        </p:spPr>
      </p:pic>
      <p:sp>
        <p:nvSpPr>
          <p:cNvPr id="18" name="Text 13"/>
          <p:cNvSpPr txBox="1"/>
          <p:nvPr/>
        </p:nvSpPr>
        <p:spPr>
          <a:xfrm>
            <a:off x="5669280" y="3794760"/>
            <a:ext cx="3108960" cy="457200"/>
          </a:xfrm>
          <a:prstGeom prst="rect">
            <a:avLst/>
          </a:prstGeom>
          <a:noFill/>
          <a:ln/>
        </p:spPr>
        <p:txBody>
          <a:bodyPr wrap="square" lIns="0" tIns="0" rIns="0" bIns="0" rtlCol="0" anchor="t"/>
          <a:lstStyle/>
          <a:p>
            <a:pPr marL="0" indent="0">
              <a:buNone/>
            </a:pPr>
            <a:r>
              <a:rPr lang="en-US" sz="1200" dirty="0">
                <a:solidFill>
                  <a:schemeClr val="accent4"/>
                </a:solidFill>
              </a:rPr>
              <a:t>IP → 콘텐츠 → 캠페인 → 기획전 밸류체인과 연결</a:t>
            </a:r>
            <a:endParaRPr lang="en-US" sz="1200" dirty="0"/>
          </a:p>
        </p:txBody>
      </p:sp>
      <p:sp>
        <p:nvSpPr>
          <p:cNvPr id="19" name="Text 14"/>
          <p:cNvSpPr txBox="1"/>
          <p:nvPr/>
        </p:nvSpPr>
        <p:spPr>
          <a:xfrm>
            <a:off x="457200" y="4434840"/>
            <a:ext cx="7772400" cy="274320"/>
          </a:xfrm>
          <a:prstGeom prst="rect">
            <a:avLst/>
          </a:prstGeom>
          <a:noFill/>
          <a:ln/>
        </p:spPr>
        <p:txBody>
          <a:bodyPr wrap="square" lIns="0" tIns="0" rIns="0" bIns="0" rtlCol="0" anchor="ctr"/>
          <a:lstStyle/>
          <a:p>
            <a:pPr marL="0" indent="0">
              <a:buNone/>
            </a:pPr>
            <a:r>
              <a:rPr lang="en-US" sz="1100" i="1" dirty="0">
                <a:solidFill>
                  <a:schemeClr val="accent4"/>
                </a:solidFill>
              </a:rPr>
              <a:t>현재 두 방향을 검토 중이며, 리서치를 거쳐 구체화할 예정입니다</a:t>
            </a:r>
            <a:endParaRPr lang="en-US" sz="1100" dirty="0"/>
          </a:p>
        </p:txBody>
      </p:sp>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1"/>
                </a:solidFill>
              </a:defRPr>
            </a:lvl1pPr>
          </a:lstStyle>
          <a:p>
            <a:pPr algn="l"/>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Hanbang Beauty">
  <a:themeElements>
    <a:clrScheme name="Hanbang Beauty">
      <a:dk1>
        <a:srgbClr val="2B211B"/>
      </a:dk1>
      <a:lt1>
        <a:srgbClr val="FFFFFF"/>
      </a:lt1>
      <a:dk2>
        <a:srgbClr val="7A5235"/>
      </a:dk2>
      <a:lt2>
        <a:srgbClr val="F7F3EC"/>
      </a:lt2>
      <a:accent1>
        <a:srgbClr val="C9A15B"/>
      </a:accent1>
      <a:accent2>
        <a:srgbClr val="6F7F5E"/>
      </a:accent2>
      <a:accent3>
        <a:srgbClr val="A0714A"/>
      </a:accent3>
      <a:accent4>
        <a:srgbClr val="D9B8A0"/>
      </a:accent4>
      <a:accent5>
        <a:srgbClr val="8A5E3B"/>
      </a:accent5>
      <a:accent6>
        <a:srgbClr val="C26A4A"/>
      </a:accent6>
      <a:hlink>
        <a:srgbClr val="7A5235"/>
      </a:hlink>
      <a:folHlink>
        <a:srgbClr val="6F7F5E"/>
      </a:folHlink>
    </a:clrScheme>
    <a:fontScheme name="Hanbang Beauty">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723</Words>
  <Application>Microsoft Office PowerPoint</Application>
  <PresentationFormat>화면 슬라이드 쇼(16:9)</PresentationFormat>
  <Paragraphs>103</Paragraphs>
  <Slides>7</Slides>
  <Notes>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Malgun Gothic</vt:lpstr>
      <vt:lpstr>Malgun Gothic</vt:lpstr>
      <vt:lpstr>Arial</vt:lpstr>
      <vt:lpstr>Hanbang Beauty</vt:lpstr>
      <vt:lpstr>PowerPoint 프레젠테이션</vt:lpstr>
      <vt:lpstr>대구는 이미 '의료' 도시였다</vt:lpstr>
      <vt:lpstr>뷰티 브랜드는 '약국'에서 시작됐다</vt:lpstr>
      <vt:lpstr>지역의 오래된 자산을 오늘의 뷰티 브랜드로</vt:lpstr>
      <vt:lpstr>한약재로 나눈 4가지 특화 기초 라인</vt:lpstr>
      <vt:lpstr>약전골목에 한방뷰티 팝업이 열리다</vt:lpstr>
      <vt:lpstr>브랜드를 만들고, 골목으로 데려간다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대구 약전골목 한방뷰티 기획</dc:title>
  <dc:subject>PptxGenJS Presentation</dc:subject>
  <dc:creator>PptxGenJS</dc:creator>
  <cp:lastModifiedBy>이진하</cp:lastModifiedBy>
  <cp:revision>2</cp:revision>
  <dcterms:created xsi:type="dcterms:W3CDTF">2026-10-28T00:21:40Z</dcterms:created>
  <dcterms:modified xsi:type="dcterms:W3CDTF">2026-10-28T00:33:15Z</dcterms:modified>
</cp:coreProperties>
</file>